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</p:sldIdLst>
  <p:sldSz cy="5143500" cx="9144000"/>
  <p:notesSz cx="6858000" cy="9144000"/>
  <p:embeddedFontLst>
    <p:embeddedFont>
      <p:font typeface="Raleway"/>
      <p:regular r:id="rId22"/>
      <p:bold r:id="rId23"/>
      <p:italic r:id="rId24"/>
      <p:boldItalic r:id="rId25"/>
    </p:embeddedFont>
    <p:embeddedFont>
      <p:font typeface="Afacad Flux"/>
      <p:regular r:id="rId26"/>
      <p:bold r:id="rId27"/>
    </p:embeddedFont>
    <p:embeddedFont>
      <p:font typeface="Heebo"/>
      <p:regular r:id="rId28"/>
      <p:bold r:id="rId29"/>
    </p:embeddedFont>
    <p:embeddedFont>
      <p:font typeface="Bricolage Grotesque ExtraLight"/>
      <p:regular r:id="rId30"/>
      <p:bold r:id="rId31"/>
    </p:embeddedFont>
    <p:embeddedFont>
      <p:font typeface="Anaheim"/>
      <p:regular r:id="rId32"/>
      <p:bold r:id="rId33"/>
    </p:embeddedFont>
    <p:embeddedFont>
      <p:font typeface="Bricolage Grotesque"/>
      <p:regular r:id="rId34"/>
      <p:bold r:id="rId35"/>
    </p:embeddedFont>
    <p:embeddedFont>
      <p:font typeface="Bricolage Grotesque Medium"/>
      <p:regular r:id="rId36"/>
      <p:bold r:id="rId37"/>
    </p:embeddedFont>
    <p:embeddedFont>
      <p:font typeface="Open Sans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OpenSans-italic.fntdata"/><Relationship Id="rId20" Type="http://schemas.openxmlformats.org/officeDocument/2006/relationships/slide" Target="slides/slide16.xml"/><Relationship Id="rId41" Type="http://schemas.openxmlformats.org/officeDocument/2006/relationships/font" Target="fonts/OpenSans-boldItalic.fntdata"/><Relationship Id="rId22" Type="http://schemas.openxmlformats.org/officeDocument/2006/relationships/font" Target="fonts/Raleway-regular.fntdata"/><Relationship Id="rId21" Type="http://schemas.openxmlformats.org/officeDocument/2006/relationships/slide" Target="slides/slide17.xml"/><Relationship Id="rId24" Type="http://schemas.openxmlformats.org/officeDocument/2006/relationships/font" Target="fonts/Raleway-italic.fntdata"/><Relationship Id="rId23" Type="http://schemas.openxmlformats.org/officeDocument/2006/relationships/font" Target="fonts/Raleway-bold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font" Target="fonts/AfacadFlux-regular.fntdata"/><Relationship Id="rId25" Type="http://schemas.openxmlformats.org/officeDocument/2006/relationships/font" Target="fonts/Raleway-boldItalic.fntdata"/><Relationship Id="rId28" Type="http://schemas.openxmlformats.org/officeDocument/2006/relationships/font" Target="fonts/Heebo-regular.fntdata"/><Relationship Id="rId27" Type="http://schemas.openxmlformats.org/officeDocument/2006/relationships/font" Target="fonts/AfacadFlux-bold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font" Target="fonts/Heebo-bold.fntdata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font" Target="fonts/BricolageGrotesqueExtraLight-bold.fntdata"/><Relationship Id="rId30" Type="http://schemas.openxmlformats.org/officeDocument/2006/relationships/font" Target="fonts/BricolageGrotesqueExtraLight-regular.fntdata"/><Relationship Id="rId11" Type="http://schemas.openxmlformats.org/officeDocument/2006/relationships/slide" Target="slides/slide7.xml"/><Relationship Id="rId33" Type="http://schemas.openxmlformats.org/officeDocument/2006/relationships/font" Target="fonts/Anaheim-bold.fntdata"/><Relationship Id="rId10" Type="http://schemas.openxmlformats.org/officeDocument/2006/relationships/slide" Target="slides/slide6.xml"/><Relationship Id="rId32" Type="http://schemas.openxmlformats.org/officeDocument/2006/relationships/font" Target="fonts/Anaheim-regular.fntdata"/><Relationship Id="rId13" Type="http://schemas.openxmlformats.org/officeDocument/2006/relationships/slide" Target="slides/slide9.xml"/><Relationship Id="rId35" Type="http://schemas.openxmlformats.org/officeDocument/2006/relationships/font" Target="fonts/BricolageGrotesque-bold.fntdata"/><Relationship Id="rId12" Type="http://schemas.openxmlformats.org/officeDocument/2006/relationships/slide" Target="slides/slide8.xml"/><Relationship Id="rId34" Type="http://schemas.openxmlformats.org/officeDocument/2006/relationships/font" Target="fonts/BricolageGrotesque-regular.fntdata"/><Relationship Id="rId15" Type="http://schemas.openxmlformats.org/officeDocument/2006/relationships/slide" Target="slides/slide11.xml"/><Relationship Id="rId37" Type="http://schemas.openxmlformats.org/officeDocument/2006/relationships/font" Target="fonts/BricolageGrotesqueMedium-bold.fntdata"/><Relationship Id="rId14" Type="http://schemas.openxmlformats.org/officeDocument/2006/relationships/slide" Target="slides/slide10.xml"/><Relationship Id="rId36" Type="http://schemas.openxmlformats.org/officeDocument/2006/relationships/font" Target="fonts/BricolageGrotesqueMedium-regular.fntdata"/><Relationship Id="rId17" Type="http://schemas.openxmlformats.org/officeDocument/2006/relationships/slide" Target="slides/slide13.xml"/><Relationship Id="rId39" Type="http://schemas.openxmlformats.org/officeDocument/2006/relationships/font" Target="fonts/OpenSans-bold.fntdata"/><Relationship Id="rId16" Type="http://schemas.openxmlformats.org/officeDocument/2006/relationships/slide" Target="slides/slide12.xml"/><Relationship Id="rId38" Type="http://schemas.openxmlformats.org/officeDocument/2006/relationships/font" Target="fonts/OpenSans-regular.fntdata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4dfce81f19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4dfce81f19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d431007ba2_0_2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d431007ba2_0_2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i="1" sz="1200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54dda1946d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54dda1946d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54dda1946d_6_3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54dda1946d_6_3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54dda1946d_6_3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54dda1946d_6_3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54dda1946d_6_3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54dda1946d_6_3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bad6923563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bad6923563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bad6923563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bad6923563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997af2fcc2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997af2fcc2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d5260bdd85_0_2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d5260bdd85_0_2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b8d636df11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3b8d636df11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3b8d636df11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8" name="Google Shape;248;g3b8d636df11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d5260bdd85_0_2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2" name="Google Shape;262;gd5260bdd85_0_2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b948879970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b948879970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g135e18421cc_13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5" name="Google Shape;325;g135e18421cc_13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3bad6923563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3bad6923563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bit.ly/3A1uf1Q" TargetMode="External"/><Relationship Id="rId3" Type="http://schemas.openxmlformats.org/officeDocument/2006/relationships/hyperlink" Target="http://bit.ly/2TtBDfr" TargetMode="Externa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>
            <a:off x="228600" y="2854200"/>
            <a:ext cx="7286400" cy="206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" type="subTitle"/>
          </p:nvPr>
        </p:nvSpPr>
        <p:spPr>
          <a:xfrm>
            <a:off x="4572000" y="1143439"/>
            <a:ext cx="1323600" cy="113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Heebo"/>
              <a:buNone/>
              <a:defRPr sz="1600">
                <a:latin typeface="Heebo"/>
                <a:ea typeface="Heebo"/>
                <a:cs typeface="Heebo"/>
                <a:sym typeface="Heebo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Heebo"/>
              <a:buNone/>
              <a:defRPr sz="1800">
                <a:latin typeface="Heebo"/>
                <a:ea typeface="Heebo"/>
                <a:cs typeface="Heebo"/>
                <a:sym typeface="Heebo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Heebo"/>
              <a:buNone/>
              <a:defRPr sz="1800">
                <a:latin typeface="Heebo"/>
                <a:ea typeface="Heebo"/>
                <a:cs typeface="Heebo"/>
                <a:sym typeface="Heebo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Heebo"/>
              <a:buNone/>
              <a:defRPr sz="1800">
                <a:latin typeface="Heebo"/>
                <a:ea typeface="Heebo"/>
                <a:cs typeface="Heebo"/>
                <a:sym typeface="Heebo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Heebo"/>
              <a:buNone/>
              <a:defRPr sz="1800">
                <a:latin typeface="Heebo"/>
                <a:ea typeface="Heebo"/>
                <a:cs typeface="Heebo"/>
                <a:sym typeface="Heebo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Heebo"/>
              <a:buNone/>
              <a:defRPr sz="1800">
                <a:latin typeface="Heebo"/>
                <a:ea typeface="Heebo"/>
                <a:cs typeface="Heebo"/>
                <a:sym typeface="Heebo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Heebo"/>
              <a:buNone/>
              <a:defRPr sz="1800">
                <a:latin typeface="Heebo"/>
                <a:ea typeface="Heebo"/>
                <a:cs typeface="Heebo"/>
                <a:sym typeface="Heebo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Heebo"/>
              <a:buNone/>
              <a:defRPr sz="1800">
                <a:latin typeface="Heebo"/>
                <a:ea typeface="Heebo"/>
                <a:cs typeface="Heebo"/>
                <a:sym typeface="Heebo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Heebo"/>
              <a:buNone/>
              <a:defRPr sz="1800">
                <a:latin typeface="Heebo"/>
                <a:ea typeface="Heebo"/>
                <a:cs typeface="Heebo"/>
                <a:sym typeface="Heeb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title"/>
          </p:nvPr>
        </p:nvSpPr>
        <p:spPr>
          <a:xfrm>
            <a:off x="228600" y="3336550"/>
            <a:ext cx="6522900" cy="151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3" name="Google Shape;13;p3"/>
          <p:cNvSpPr txBox="1"/>
          <p:nvPr>
            <p:ph hasCustomPrompt="1" idx="2" type="title"/>
          </p:nvPr>
        </p:nvSpPr>
        <p:spPr>
          <a:xfrm>
            <a:off x="6751500" y="827594"/>
            <a:ext cx="1652100" cy="12117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b="0" sz="8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/>
          <p:nvPr>
            <p:ph type="title"/>
          </p:nvPr>
        </p:nvSpPr>
        <p:spPr>
          <a:xfrm>
            <a:off x="228600" y="228600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16" name="Google Shape;16;p4"/>
          <p:cNvSpPr txBox="1"/>
          <p:nvPr>
            <p:ph idx="1" type="body"/>
          </p:nvPr>
        </p:nvSpPr>
        <p:spPr>
          <a:xfrm>
            <a:off x="228600" y="999327"/>
            <a:ext cx="77040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indent="-304800" lvl="1" marL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indent="-304800" lvl="2" marL="1371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indent="-304800" lvl="3" marL="1828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indent="-304800" lvl="4" marL="22860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indent="-304800" lvl="5" marL="2743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indent="-304800" lvl="6" marL="3200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indent="-304800" lvl="7" marL="3657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indent="-304800" lvl="8" marL="411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"/>
          <p:cNvSpPr txBox="1"/>
          <p:nvPr>
            <p:ph type="title"/>
          </p:nvPr>
        </p:nvSpPr>
        <p:spPr>
          <a:xfrm>
            <a:off x="228750" y="228600"/>
            <a:ext cx="2591700" cy="232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19" name="Google Shape;19;p5"/>
          <p:cNvSpPr txBox="1"/>
          <p:nvPr>
            <p:ph idx="1" type="subTitle"/>
          </p:nvPr>
        </p:nvSpPr>
        <p:spPr>
          <a:xfrm>
            <a:off x="3768000" y="1795575"/>
            <a:ext cx="5147400" cy="124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20" name="Google Shape;20;p5"/>
          <p:cNvSpPr txBox="1"/>
          <p:nvPr>
            <p:ph idx="2" type="subTitle"/>
          </p:nvPr>
        </p:nvSpPr>
        <p:spPr>
          <a:xfrm>
            <a:off x="3767953" y="1242975"/>
            <a:ext cx="5147400" cy="62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/>
        </p:txBody>
      </p:sp>
      <p:sp>
        <p:nvSpPr>
          <p:cNvPr id="21" name="Google Shape;21;p5"/>
          <p:cNvSpPr txBox="1"/>
          <p:nvPr>
            <p:ph idx="3" type="subTitle"/>
          </p:nvPr>
        </p:nvSpPr>
        <p:spPr>
          <a:xfrm>
            <a:off x="3767925" y="3669600"/>
            <a:ext cx="5147400" cy="124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22" name="Google Shape;22;p5"/>
          <p:cNvSpPr txBox="1"/>
          <p:nvPr>
            <p:ph idx="4" type="subTitle"/>
          </p:nvPr>
        </p:nvSpPr>
        <p:spPr>
          <a:xfrm>
            <a:off x="3767855" y="3117000"/>
            <a:ext cx="5147400" cy="62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6"/>
          <p:cNvSpPr txBox="1"/>
          <p:nvPr>
            <p:ph type="title"/>
          </p:nvPr>
        </p:nvSpPr>
        <p:spPr>
          <a:xfrm>
            <a:off x="228600" y="4148475"/>
            <a:ext cx="4835100" cy="766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500"/>
              <a:buNone/>
              <a:defRPr sz="3800"/>
            </a:lvl1pPr>
            <a:lvl2pPr lvl="1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7"/>
          <p:cNvSpPr txBox="1"/>
          <p:nvPr>
            <p:ph type="title"/>
          </p:nvPr>
        </p:nvSpPr>
        <p:spPr>
          <a:xfrm>
            <a:off x="720000" y="445019"/>
            <a:ext cx="4763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27" name="Google Shape;27;p7"/>
          <p:cNvSpPr txBox="1"/>
          <p:nvPr>
            <p:ph idx="1" type="subTitle"/>
          </p:nvPr>
        </p:nvSpPr>
        <p:spPr>
          <a:xfrm>
            <a:off x="713225" y="1790975"/>
            <a:ext cx="4294800" cy="19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Font typeface="Open Sans Light"/>
              <a:buChar char="●"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8"/>
          <p:cNvSpPr txBox="1"/>
          <p:nvPr>
            <p:ph type="title"/>
          </p:nvPr>
        </p:nvSpPr>
        <p:spPr>
          <a:xfrm>
            <a:off x="1768550" y="1307100"/>
            <a:ext cx="5607000" cy="252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9"/>
          <p:cNvSpPr txBox="1"/>
          <p:nvPr>
            <p:ph type="title"/>
          </p:nvPr>
        </p:nvSpPr>
        <p:spPr>
          <a:xfrm>
            <a:off x="2135550" y="1441675"/>
            <a:ext cx="4872900" cy="1187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 sz="6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32" name="Google Shape;32;p9"/>
          <p:cNvSpPr txBox="1"/>
          <p:nvPr>
            <p:ph idx="1" type="subTitle"/>
          </p:nvPr>
        </p:nvSpPr>
        <p:spPr>
          <a:xfrm>
            <a:off x="2135550" y="2784625"/>
            <a:ext cx="48729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0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5" name="Google Shape;35;p10"/>
          <p:cNvSpPr txBox="1"/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1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 sz="25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1"/>
          <p:cNvSpPr txBox="1"/>
          <p:nvPr>
            <p:ph type="title"/>
          </p:nvPr>
        </p:nvSpPr>
        <p:spPr>
          <a:xfrm>
            <a:off x="228600" y="228600"/>
            <a:ext cx="3594000" cy="92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38" name="Google Shape;38;p11"/>
          <p:cNvSpPr txBox="1"/>
          <p:nvPr>
            <p:ph hasCustomPrompt="1" idx="2" type="title"/>
          </p:nvPr>
        </p:nvSpPr>
        <p:spPr>
          <a:xfrm>
            <a:off x="228719" y="2952800"/>
            <a:ext cx="2400600" cy="1319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b="0" sz="9500">
                <a:solidFill>
                  <a:schemeClr val="dk2"/>
                </a:solidFill>
                <a:latin typeface="Bricolage Grotesque Medium"/>
                <a:ea typeface="Bricolage Grotesque Medium"/>
                <a:cs typeface="Bricolage Grotesque Medium"/>
                <a:sym typeface="Bricolage Grotesque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39" name="Google Shape;39;p11"/>
          <p:cNvSpPr txBox="1"/>
          <p:nvPr>
            <p:ph idx="1" type="subTitle"/>
          </p:nvPr>
        </p:nvSpPr>
        <p:spPr>
          <a:xfrm>
            <a:off x="228600" y="1157700"/>
            <a:ext cx="3594000" cy="8052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40" name="Google Shape;40;p11"/>
          <p:cNvSpPr txBox="1"/>
          <p:nvPr>
            <p:ph hasCustomPrompt="1" idx="3" type="title"/>
          </p:nvPr>
        </p:nvSpPr>
        <p:spPr>
          <a:xfrm>
            <a:off x="6515091" y="2952800"/>
            <a:ext cx="2400600" cy="1319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b="0" sz="9500">
                <a:solidFill>
                  <a:schemeClr val="dk2"/>
                </a:solidFill>
                <a:latin typeface="Bricolage Grotesque Medium"/>
                <a:ea typeface="Bricolage Grotesque Medium"/>
                <a:cs typeface="Bricolage Grotesque Medium"/>
                <a:sym typeface="Bricolage Grotesque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41" name="Google Shape;41;p11"/>
          <p:cNvSpPr txBox="1"/>
          <p:nvPr>
            <p:ph hasCustomPrompt="1" idx="4" type="title"/>
          </p:nvPr>
        </p:nvSpPr>
        <p:spPr>
          <a:xfrm>
            <a:off x="3371760" y="2952800"/>
            <a:ext cx="2400600" cy="1319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b="0" sz="9500">
                <a:solidFill>
                  <a:schemeClr val="dk2"/>
                </a:solidFill>
                <a:latin typeface="Bricolage Grotesque Medium"/>
                <a:ea typeface="Bricolage Grotesque Medium"/>
                <a:cs typeface="Bricolage Grotesque Medium"/>
                <a:sym typeface="Bricolage Grotesque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42" name="Google Shape;42;p11"/>
          <p:cNvSpPr txBox="1"/>
          <p:nvPr>
            <p:ph idx="5" type="subTitle"/>
          </p:nvPr>
        </p:nvSpPr>
        <p:spPr>
          <a:xfrm>
            <a:off x="228600" y="4155300"/>
            <a:ext cx="2400600" cy="7599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43" name="Google Shape;43;p11"/>
          <p:cNvSpPr txBox="1"/>
          <p:nvPr>
            <p:ph idx="6" type="subTitle"/>
          </p:nvPr>
        </p:nvSpPr>
        <p:spPr>
          <a:xfrm>
            <a:off x="6514972" y="4155300"/>
            <a:ext cx="2400600" cy="7599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44" name="Google Shape;44;p11"/>
          <p:cNvSpPr txBox="1"/>
          <p:nvPr>
            <p:ph idx="7" type="subTitle"/>
          </p:nvPr>
        </p:nvSpPr>
        <p:spPr>
          <a:xfrm>
            <a:off x="3371640" y="4155300"/>
            <a:ext cx="2400600" cy="7599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45" name="Google Shape;45;p11"/>
          <p:cNvSpPr txBox="1"/>
          <p:nvPr>
            <p:ph hasCustomPrompt="1" idx="8" type="title"/>
          </p:nvPr>
        </p:nvSpPr>
        <p:spPr>
          <a:xfrm>
            <a:off x="6515091" y="228600"/>
            <a:ext cx="2400600" cy="1319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b="0" sz="9500">
                <a:solidFill>
                  <a:schemeClr val="dk2"/>
                </a:solidFill>
                <a:latin typeface="Bricolage Grotesque Medium"/>
                <a:ea typeface="Bricolage Grotesque Medium"/>
                <a:cs typeface="Bricolage Grotesque Medium"/>
                <a:sym typeface="Bricolage Grotesque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9" type="subTitle"/>
          </p:nvPr>
        </p:nvSpPr>
        <p:spPr>
          <a:xfrm>
            <a:off x="6514972" y="1431100"/>
            <a:ext cx="2400600" cy="7599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rgbClr val="FFFFFF"/>
        </a:solidFill>
      </p:bgPr>
    </p:bg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BLANK_1_1_1_1_1_1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3"/>
          <p:cNvSpPr txBox="1"/>
          <p:nvPr>
            <p:ph type="title"/>
          </p:nvPr>
        </p:nvSpPr>
        <p:spPr>
          <a:xfrm>
            <a:off x="228600" y="3322775"/>
            <a:ext cx="3429000" cy="1592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50" name="Google Shape;50;p13"/>
          <p:cNvSpPr txBox="1"/>
          <p:nvPr>
            <p:ph hasCustomPrompt="1" idx="2" type="title"/>
          </p:nvPr>
        </p:nvSpPr>
        <p:spPr>
          <a:xfrm>
            <a:off x="1588833" y="228602"/>
            <a:ext cx="542700" cy="338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0" sz="12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1" name="Google Shape;51;p13"/>
          <p:cNvSpPr txBox="1"/>
          <p:nvPr>
            <p:ph idx="1" type="subTitle"/>
          </p:nvPr>
        </p:nvSpPr>
        <p:spPr>
          <a:xfrm>
            <a:off x="1562777" y="473075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hasCustomPrompt="1" idx="3" type="title"/>
          </p:nvPr>
        </p:nvSpPr>
        <p:spPr>
          <a:xfrm>
            <a:off x="228592" y="1493565"/>
            <a:ext cx="542700" cy="338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0" sz="1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3" name="Google Shape;53;p13"/>
          <p:cNvSpPr txBox="1"/>
          <p:nvPr>
            <p:ph idx="4" type="subTitle"/>
          </p:nvPr>
        </p:nvSpPr>
        <p:spPr>
          <a:xfrm>
            <a:off x="228598" y="1738025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hasCustomPrompt="1" idx="5" type="title"/>
          </p:nvPr>
        </p:nvSpPr>
        <p:spPr>
          <a:xfrm>
            <a:off x="3898029" y="228602"/>
            <a:ext cx="542700" cy="338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0" sz="1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5" name="Google Shape;55;p13"/>
          <p:cNvSpPr txBox="1"/>
          <p:nvPr>
            <p:ph idx="6" type="subTitle"/>
          </p:nvPr>
        </p:nvSpPr>
        <p:spPr>
          <a:xfrm>
            <a:off x="3898025" y="473075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56" name="Google Shape;56;p13"/>
          <p:cNvSpPr txBox="1"/>
          <p:nvPr>
            <p:ph hasCustomPrompt="1" idx="7" type="title"/>
          </p:nvPr>
        </p:nvSpPr>
        <p:spPr>
          <a:xfrm>
            <a:off x="6207225" y="228602"/>
            <a:ext cx="542700" cy="338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0" sz="1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7" name="Google Shape;57;p13"/>
          <p:cNvSpPr txBox="1"/>
          <p:nvPr>
            <p:ph idx="8" type="subTitle"/>
          </p:nvPr>
        </p:nvSpPr>
        <p:spPr>
          <a:xfrm>
            <a:off x="6207225" y="473075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58" name="Google Shape;58;p13"/>
          <p:cNvSpPr txBox="1"/>
          <p:nvPr>
            <p:ph hasCustomPrompt="1" idx="9" type="title"/>
          </p:nvPr>
        </p:nvSpPr>
        <p:spPr>
          <a:xfrm>
            <a:off x="2537808" y="1493565"/>
            <a:ext cx="542700" cy="338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0" sz="1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9" name="Google Shape;59;p13"/>
          <p:cNvSpPr txBox="1"/>
          <p:nvPr>
            <p:ph idx="13" type="subTitle"/>
          </p:nvPr>
        </p:nvSpPr>
        <p:spPr>
          <a:xfrm>
            <a:off x="2537802" y="1738025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60" name="Google Shape;60;p13"/>
          <p:cNvSpPr txBox="1"/>
          <p:nvPr>
            <p:ph hasCustomPrompt="1" idx="14" type="title"/>
          </p:nvPr>
        </p:nvSpPr>
        <p:spPr>
          <a:xfrm>
            <a:off x="4847000" y="1493565"/>
            <a:ext cx="542700" cy="338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0" sz="1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1" name="Google Shape;61;p13"/>
          <p:cNvSpPr txBox="1"/>
          <p:nvPr>
            <p:ph idx="15" type="subTitle"/>
          </p:nvPr>
        </p:nvSpPr>
        <p:spPr>
          <a:xfrm>
            <a:off x="4847000" y="1738025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62" name="Google Shape;62;p13"/>
          <p:cNvSpPr txBox="1"/>
          <p:nvPr>
            <p:ph hasCustomPrompt="1" idx="16" type="title"/>
          </p:nvPr>
        </p:nvSpPr>
        <p:spPr>
          <a:xfrm>
            <a:off x="3898017" y="2758524"/>
            <a:ext cx="542700" cy="338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0" sz="1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3" name="Google Shape;63;p13"/>
          <p:cNvSpPr txBox="1"/>
          <p:nvPr>
            <p:ph idx="17" type="subTitle"/>
          </p:nvPr>
        </p:nvSpPr>
        <p:spPr>
          <a:xfrm>
            <a:off x="3898023" y="3003000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64" name="Google Shape;64;p13"/>
          <p:cNvSpPr txBox="1"/>
          <p:nvPr>
            <p:ph hasCustomPrompt="1" idx="18" type="title"/>
          </p:nvPr>
        </p:nvSpPr>
        <p:spPr>
          <a:xfrm>
            <a:off x="6671900" y="2758524"/>
            <a:ext cx="542700" cy="338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0" sz="1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5" name="Google Shape;65;p13"/>
          <p:cNvSpPr txBox="1"/>
          <p:nvPr>
            <p:ph idx="19" type="subTitle"/>
          </p:nvPr>
        </p:nvSpPr>
        <p:spPr>
          <a:xfrm>
            <a:off x="6671900" y="3003000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_4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4"/>
          <p:cNvSpPr txBox="1"/>
          <p:nvPr>
            <p:ph type="title"/>
          </p:nvPr>
        </p:nvSpPr>
        <p:spPr>
          <a:xfrm>
            <a:off x="228600" y="3269200"/>
            <a:ext cx="3155400" cy="1645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68" name="Google Shape;68;p14"/>
          <p:cNvSpPr txBox="1"/>
          <p:nvPr>
            <p:ph idx="1" type="subTitle"/>
          </p:nvPr>
        </p:nvSpPr>
        <p:spPr>
          <a:xfrm>
            <a:off x="4517000" y="228600"/>
            <a:ext cx="3078300" cy="320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ONE_COLUMN_TEXT_1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/>
          <p:nvPr>
            <p:ph type="title"/>
          </p:nvPr>
        </p:nvSpPr>
        <p:spPr>
          <a:xfrm>
            <a:off x="228600" y="554398"/>
            <a:ext cx="3201600" cy="1970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71" name="Google Shape;71;p15"/>
          <p:cNvSpPr/>
          <p:nvPr>
            <p:ph idx="2" type="pic"/>
          </p:nvPr>
        </p:nvSpPr>
        <p:spPr>
          <a:xfrm>
            <a:off x="228600" y="2871425"/>
            <a:ext cx="8687100" cy="2043900"/>
          </a:xfrm>
          <a:prstGeom prst="rect">
            <a:avLst/>
          </a:prstGeom>
          <a:noFill/>
          <a:ln>
            <a:noFill/>
          </a:ln>
        </p:spPr>
      </p:sp>
      <p:sp>
        <p:nvSpPr>
          <p:cNvPr id="72" name="Google Shape;72;p15"/>
          <p:cNvSpPr txBox="1"/>
          <p:nvPr>
            <p:ph idx="1" type="subTitle"/>
          </p:nvPr>
        </p:nvSpPr>
        <p:spPr>
          <a:xfrm>
            <a:off x="3995400" y="228600"/>
            <a:ext cx="4920300" cy="2205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6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>
            <p:ph type="title"/>
          </p:nvPr>
        </p:nvSpPr>
        <p:spPr>
          <a:xfrm>
            <a:off x="1887000" y="3909000"/>
            <a:ext cx="7028400" cy="100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75" name="Google Shape;75;p16"/>
          <p:cNvSpPr txBox="1"/>
          <p:nvPr>
            <p:ph idx="1" type="subTitle"/>
          </p:nvPr>
        </p:nvSpPr>
        <p:spPr>
          <a:xfrm>
            <a:off x="3309609" y="1591350"/>
            <a:ext cx="2525400" cy="14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6" name="Google Shape;76;p16"/>
          <p:cNvSpPr txBox="1"/>
          <p:nvPr>
            <p:ph idx="2" type="subTitle"/>
          </p:nvPr>
        </p:nvSpPr>
        <p:spPr>
          <a:xfrm>
            <a:off x="228450" y="1591350"/>
            <a:ext cx="2525400" cy="14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7" name="Google Shape;77;p16"/>
          <p:cNvSpPr txBox="1"/>
          <p:nvPr>
            <p:ph idx="3" type="subTitle"/>
          </p:nvPr>
        </p:nvSpPr>
        <p:spPr>
          <a:xfrm>
            <a:off x="6390000" y="1591350"/>
            <a:ext cx="2525400" cy="14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8" name="Google Shape;78;p16"/>
          <p:cNvSpPr txBox="1"/>
          <p:nvPr>
            <p:ph hasCustomPrompt="1" idx="4" type="title"/>
          </p:nvPr>
        </p:nvSpPr>
        <p:spPr>
          <a:xfrm>
            <a:off x="3308991" y="228600"/>
            <a:ext cx="1640100" cy="7629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0" sz="5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Font typeface="Bricolage Grotesque"/>
              <a:buNone/>
              <a:defRPr sz="30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Font typeface="Bricolage Grotesque"/>
              <a:buNone/>
              <a:defRPr sz="30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Font typeface="Bricolage Grotesque"/>
              <a:buNone/>
              <a:defRPr sz="30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Font typeface="Bricolage Grotesque"/>
              <a:buNone/>
              <a:defRPr sz="30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Font typeface="Bricolage Grotesque"/>
              <a:buNone/>
              <a:defRPr sz="30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Font typeface="Bricolage Grotesque"/>
              <a:buNone/>
              <a:defRPr sz="30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Font typeface="Bricolage Grotesque"/>
              <a:buNone/>
              <a:defRPr sz="30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Font typeface="Bricolage Grotesque"/>
              <a:buNone/>
              <a:defRPr sz="30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79" name="Google Shape;79;p16"/>
          <p:cNvSpPr txBox="1"/>
          <p:nvPr>
            <p:ph hasCustomPrompt="1" idx="5" type="title"/>
          </p:nvPr>
        </p:nvSpPr>
        <p:spPr>
          <a:xfrm>
            <a:off x="228475" y="228968"/>
            <a:ext cx="1706100" cy="762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0" sz="50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Font typeface="Bricolage Grotesque"/>
              <a:buNone/>
              <a:defRPr sz="9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Font typeface="Bricolage Grotesque"/>
              <a:buNone/>
              <a:defRPr sz="9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Font typeface="Bricolage Grotesque"/>
              <a:buNone/>
              <a:defRPr sz="9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Font typeface="Bricolage Grotesque"/>
              <a:buNone/>
              <a:defRPr sz="9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Font typeface="Bricolage Grotesque"/>
              <a:buNone/>
              <a:defRPr sz="9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Font typeface="Bricolage Grotesque"/>
              <a:buNone/>
              <a:defRPr sz="9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Font typeface="Bricolage Grotesque"/>
              <a:buNone/>
              <a:defRPr sz="9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Font typeface="Bricolage Grotesque"/>
              <a:buNone/>
              <a:defRPr sz="9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80" name="Google Shape;80;p16"/>
          <p:cNvSpPr txBox="1"/>
          <p:nvPr>
            <p:ph hasCustomPrompt="1" idx="6" type="title"/>
          </p:nvPr>
        </p:nvSpPr>
        <p:spPr>
          <a:xfrm>
            <a:off x="6390000" y="228600"/>
            <a:ext cx="1479300" cy="76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0" sz="50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Font typeface="Bricolage Grotesque"/>
              <a:buNone/>
              <a:defRPr sz="62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Font typeface="Bricolage Grotesque"/>
              <a:buNone/>
              <a:defRPr sz="62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Font typeface="Bricolage Grotesque"/>
              <a:buNone/>
              <a:defRPr sz="62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Font typeface="Bricolage Grotesque"/>
              <a:buNone/>
              <a:defRPr sz="62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Font typeface="Bricolage Grotesque"/>
              <a:buNone/>
              <a:defRPr sz="62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Font typeface="Bricolage Grotesque"/>
              <a:buNone/>
              <a:defRPr sz="62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Font typeface="Bricolage Grotesque"/>
              <a:buNone/>
              <a:defRPr sz="62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Font typeface="Bricolage Grotesque"/>
              <a:buNone/>
              <a:defRPr sz="62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81" name="Google Shape;81;p16"/>
          <p:cNvSpPr txBox="1"/>
          <p:nvPr>
            <p:ph idx="7" type="subTitle"/>
          </p:nvPr>
        </p:nvSpPr>
        <p:spPr>
          <a:xfrm>
            <a:off x="3309609" y="1103850"/>
            <a:ext cx="2525400" cy="56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/>
        </p:txBody>
      </p:sp>
      <p:sp>
        <p:nvSpPr>
          <p:cNvPr id="82" name="Google Shape;82;p16"/>
          <p:cNvSpPr txBox="1"/>
          <p:nvPr>
            <p:ph idx="8" type="subTitle"/>
          </p:nvPr>
        </p:nvSpPr>
        <p:spPr>
          <a:xfrm>
            <a:off x="228450" y="1103850"/>
            <a:ext cx="2525400" cy="56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/>
        </p:txBody>
      </p:sp>
      <p:sp>
        <p:nvSpPr>
          <p:cNvPr id="83" name="Google Shape;83;p16"/>
          <p:cNvSpPr txBox="1"/>
          <p:nvPr>
            <p:ph idx="9" type="subTitle"/>
          </p:nvPr>
        </p:nvSpPr>
        <p:spPr>
          <a:xfrm>
            <a:off x="6390000" y="1103850"/>
            <a:ext cx="2525400" cy="56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5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7"/>
          <p:cNvSpPr txBox="1"/>
          <p:nvPr>
            <p:ph type="title"/>
          </p:nvPr>
        </p:nvSpPr>
        <p:spPr>
          <a:xfrm>
            <a:off x="228600" y="1159200"/>
            <a:ext cx="3248700" cy="282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86" name="Google Shape;86;p17"/>
          <p:cNvSpPr txBox="1"/>
          <p:nvPr>
            <p:ph idx="1" type="subTitle"/>
          </p:nvPr>
        </p:nvSpPr>
        <p:spPr>
          <a:xfrm>
            <a:off x="5061325" y="647121"/>
            <a:ext cx="3854400" cy="5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87" name="Google Shape;87;p17"/>
          <p:cNvSpPr txBox="1"/>
          <p:nvPr>
            <p:ph idx="2" type="subTitle"/>
          </p:nvPr>
        </p:nvSpPr>
        <p:spPr>
          <a:xfrm>
            <a:off x="5061325" y="228675"/>
            <a:ext cx="3854400" cy="48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/>
        </p:txBody>
      </p:sp>
      <p:sp>
        <p:nvSpPr>
          <p:cNvPr id="88" name="Google Shape;88;p17"/>
          <p:cNvSpPr txBox="1"/>
          <p:nvPr>
            <p:ph hasCustomPrompt="1" idx="3" type="title"/>
          </p:nvPr>
        </p:nvSpPr>
        <p:spPr>
          <a:xfrm>
            <a:off x="4500325" y="228595"/>
            <a:ext cx="561000" cy="4845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 b="0" sz="16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7"/>
          <p:cNvSpPr txBox="1"/>
          <p:nvPr>
            <p:ph idx="4" type="subTitle"/>
          </p:nvPr>
        </p:nvSpPr>
        <p:spPr>
          <a:xfrm>
            <a:off x="5061325" y="1871014"/>
            <a:ext cx="3854400" cy="5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90" name="Google Shape;90;p17"/>
          <p:cNvSpPr txBox="1"/>
          <p:nvPr>
            <p:ph idx="5" type="subTitle"/>
          </p:nvPr>
        </p:nvSpPr>
        <p:spPr>
          <a:xfrm>
            <a:off x="5061325" y="1452568"/>
            <a:ext cx="3854400" cy="48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/>
        </p:txBody>
      </p:sp>
      <p:sp>
        <p:nvSpPr>
          <p:cNvPr id="91" name="Google Shape;91;p17"/>
          <p:cNvSpPr txBox="1"/>
          <p:nvPr>
            <p:ph hasCustomPrompt="1" idx="6" type="title"/>
          </p:nvPr>
        </p:nvSpPr>
        <p:spPr>
          <a:xfrm>
            <a:off x="4500325" y="1452487"/>
            <a:ext cx="561000" cy="4845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 b="0" sz="16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92" name="Google Shape;92;p17"/>
          <p:cNvSpPr txBox="1"/>
          <p:nvPr>
            <p:ph idx="7" type="subTitle"/>
          </p:nvPr>
        </p:nvSpPr>
        <p:spPr>
          <a:xfrm>
            <a:off x="5061325" y="3094907"/>
            <a:ext cx="3854400" cy="5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93" name="Google Shape;93;p17"/>
          <p:cNvSpPr txBox="1"/>
          <p:nvPr>
            <p:ph idx="8" type="subTitle"/>
          </p:nvPr>
        </p:nvSpPr>
        <p:spPr>
          <a:xfrm>
            <a:off x="5061325" y="2676461"/>
            <a:ext cx="3854400" cy="48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/>
        </p:txBody>
      </p:sp>
      <p:sp>
        <p:nvSpPr>
          <p:cNvPr id="94" name="Google Shape;94;p17"/>
          <p:cNvSpPr txBox="1"/>
          <p:nvPr>
            <p:ph hasCustomPrompt="1" idx="9" type="title"/>
          </p:nvPr>
        </p:nvSpPr>
        <p:spPr>
          <a:xfrm>
            <a:off x="4500325" y="2676378"/>
            <a:ext cx="561000" cy="4845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 b="0" sz="16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95" name="Google Shape;95;p17"/>
          <p:cNvSpPr txBox="1"/>
          <p:nvPr>
            <p:ph idx="13" type="subTitle"/>
          </p:nvPr>
        </p:nvSpPr>
        <p:spPr>
          <a:xfrm>
            <a:off x="5061325" y="4318799"/>
            <a:ext cx="3854400" cy="5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96" name="Google Shape;96;p17"/>
          <p:cNvSpPr txBox="1"/>
          <p:nvPr>
            <p:ph idx="14" type="subTitle"/>
          </p:nvPr>
        </p:nvSpPr>
        <p:spPr>
          <a:xfrm>
            <a:off x="5061325" y="3900353"/>
            <a:ext cx="3854400" cy="48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/>
        </p:txBody>
      </p:sp>
      <p:sp>
        <p:nvSpPr>
          <p:cNvPr id="97" name="Google Shape;97;p17"/>
          <p:cNvSpPr txBox="1"/>
          <p:nvPr>
            <p:ph hasCustomPrompt="1" idx="15" type="title"/>
          </p:nvPr>
        </p:nvSpPr>
        <p:spPr>
          <a:xfrm>
            <a:off x="4500325" y="3900270"/>
            <a:ext cx="561000" cy="4845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 b="0" sz="16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/>
          <p:nvPr>
            <p:ph type="title"/>
          </p:nvPr>
        </p:nvSpPr>
        <p:spPr>
          <a:xfrm>
            <a:off x="228600" y="228600"/>
            <a:ext cx="8686500" cy="76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3800"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3_1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9"/>
          <p:cNvSpPr txBox="1"/>
          <p:nvPr>
            <p:ph type="title"/>
          </p:nvPr>
        </p:nvSpPr>
        <p:spPr>
          <a:xfrm>
            <a:off x="3054850" y="3056150"/>
            <a:ext cx="5860500" cy="1839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102" name="Google Shape;102;p19"/>
          <p:cNvSpPr txBox="1"/>
          <p:nvPr>
            <p:ph idx="1" type="subTitle"/>
          </p:nvPr>
        </p:nvSpPr>
        <p:spPr>
          <a:xfrm>
            <a:off x="4425843" y="228611"/>
            <a:ext cx="2490900" cy="105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03" name="Google Shape;103;p19"/>
          <p:cNvSpPr txBox="1"/>
          <p:nvPr/>
        </p:nvSpPr>
        <p:spPr>
          <a:xfrm>
            <a:off x="228600" y="2803984"/>
            <a:ext cx="2572200" cy="67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rPr>
              <a:t>CREDITS:</a:t>
            </a:r>
            <a:r>
              <a:rPr lang="en" sz="10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rPr>
              <a:t> This presentation template was created by </a:t>
            </a:r>
            <a:r>
              <a:rPr b="1" lang="en" sz="1000" u="sng">
                <a:solidFill>
                  <a:schemeClr val="hlink"/>
                </a:solidFill>
                <a:latin typeface="Heebo"/>
                <a:ea typeface="Heebo"/>
                <a:cs typeface="Heebo"/>
                <a:sym typeface="Heebo"/>
                <a:hlinkClick r:id="rId2"/>
              </a:rPr>
              <a:t>Slidesgo</a:t>
            </a:r>
            <a:r>
              <a:rPr lang="en" sz="10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rPr>
              <a:t>, and includes icons, infographics &amp; images by </a:t>
            </a:r>
            <a:r>
              <a:rPr b="1" lang="en" sz="1000" u="sng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r>
              <a:rPr lang="en" sz="1000" u="sng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rPr>
              <a:t> </a:t>
            </a:r>
            <a:endParaRPr b="1" sz="1000" u="sng">
              <a:solidFill>
                <a:schemeClr val="dk1"/>
              </a:solidFill>
              <a:latin typeface="Heebo"/>
              <a:ea typeface="Heebo"/>
              <a:cs typeface="Heebo"/>
              <a:sym typeface="Heebo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9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9_1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21" Type="http://schemas.openxmlformats.org/officeDocument/2006/relationships/theme" Target="../theme/theme1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Bricolage Grotesque"/>
              <a:buNone/>
              <a:defRPr b="1" sz="4500">
                <a:solidFill>
                  <a:schemeClr val="dk1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facad Flux"/>
              <a:buNone/>
              <a:defRPr b="1" sz="45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facad Flux"/>
              <a:buNone/>
              <a:defRPr b="1" sz="45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facad Flux"/>
              <a:buNone/>
              <a:defRPr b="1" sz="45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facad Flux"/>
              <a:buNone/>
              <a:defRPr b="1" sz="45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facad Flux"/>
              <a:buNone/>
              <a:defRPr b="1" sz="45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facad Flux"/>
              <a:buNone/>
              <a:defRPr b="1" sz="45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facad Flux"/>
              <a:buNone/>
              <a:defRPr b="1" sz="45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facad Flux"/>
              <a:buNone/>
              <a:defRPr b="1" sz="45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28600" y="936050"/>
            <a:ext cx="86868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●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1pPr>
            <a:lvl2pPr indent="-3048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○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2pPr>
            <a:lvl3pPr indent="-3048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■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3pPr>
            <a:lvl4pPr indent="-3048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●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4pPr>
            <a:lvl5pPr indent="-3048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○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5pPr>
            <a:lvl6pPr indent="-3048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■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6pPr>
            <a:lvl7pPr indent="-3048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●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7pPr>
            <a:lvl8pPr indent="-3048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○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8pPr>
            <a:lvl9pPr indent="-3048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■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</p:sldLayoutIdLst>
  <p:transition spd="med">
    <p:push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9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2"/>
          <p:cNvSpPr txBox="1"/>
          <p:nvPr>
            <p:ph type="ctrTitle"/>
          </p:nvPr>
        </p:nvSpPr>
        <p:spPr>
          <a:xfrm>
            <a:off x="324700" y="2892700"/>
            <a:ext cx="8153700" cy="206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/>
              <a:t>Real-World Assets</a:t>
            </a:r>
            <a:r>
              <a:rPr lang="en" sz="3000"/>
              <a:t> </a:t>
            </a:r>
            <a:r>
              <a:rPr lang="en" sz="10000"/>
              <a:t>Tokenization</a:t>
            </a:r>
            <a:endParaRPr sz="10000"/>
          </a:p>
        </p:txBody>
      </p:sp>
      <p:sp>
        <p:nvSpPr>
          <p:cNvPr id="111" name="Google Shape;111;p22"/>
          <p:cNvSpPr txBox="1"/>
          <p:nvPr>
            <p:ph idx="1" type="subTitle"/>
          </p:nvPr>
        </p:nvSpPr>
        <p:spPr>
          <a:xfrm>
            <a:off x="5844900" y="735450"/>
            <a:ext cx="2943000" cy="75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RWA Tokenization Platform</a:t>
            </a:r>
            <a:br>
              <a:rPr lang="en"/>
            </a:br>
            <a:r>
              <a:rPr lang="en"/>
              <a:t>Secure, Compliant, Production-Ready Architecture for Real-World Assets</a:t>
            </a:r>
            <a:endParaRPr/>
          </a:p>
        </p:txBody>
      </p:sp>
      <p:pic>
        <p:nvPicPr>
          <p:cNvPr id="112" name="Google Shape;112;p22" title="652fbaf842b36f00013c4f33_Real-world Assets (RWA)-1600 900.png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27864" l="0" r="0" t="18969"/>
          <a:stretch/>
        </p:blipFill>
        <p:spPr>
          <a:xfrm>
            <a:off x="228450" y="137600"/>
            <a:ext cx="8687100" cy="25980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3"/>
          <p:cNvSpPr txBox="1"/>
          <p:nvPr>
            <p:ph type="title"/>
          </p:nvPr>
        </p:nvSpPr>
        <p:spPr>
          <a:xfrm>
            <a:off x="228600" y="3322775"/>
            <a:ext cx="3429000" cy="1592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</a:t>
            </a:r>
            <a:r>
              <a:rPr lang="en"/>
              <a:t>able of contents</a:t>
            </a:r>
            <a:endParaRPr/>
          </a:p>
        </p:txBody>
      </p:sp>
      <p:sp>
        <p:nvSpPr>
          <p:cNvPr id="118" name="Google Shape;118;p23"/>
          <p:cNvSpPr txBox="1"/>
          <p:nvPr>
            <p:ph idx="1" type="subTitle"/>
          </p:nvPr>
        </p:nvSpPr>
        <p:spPr>
          <a:xfrm>
            <a:off x="1562777" y="473075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</a:t>
            </a:r>
            <a:r>
              <a:rPr lang="en"/>
              <a:t>overview</a:t>
            </a:r>
            <a:endParaRPr/>
          </a:p>
        </p:txBody>
      </p:sp>
      <p:sp>
        <p:nvSpPr>
          <p:cNvPr id="119" name="Google Shape;119;p23"/>
          <p:cNvSpPr txBox="1"/>
          <p:nvPr>
            <p:ph idx="2" type="title"/>
          </p:nvPr>
        </p:nvSpPr>
        <p:spPr>
          <a:xfrm>
            <a:off x="1588833" y="228602"/>
            <a:ext cx="542700" cy="33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120" name="Google Shape;120;p23"/>
          <p:cNvSpPr txBox="1"/>
          <p:nvPr>
            <p:ph idx="3" type="title"/>
          </p:nvPr>
        </p:nvSpPr>
        <p:spPr>
          <a:xfrm>
            <a:off x="522314" y="1533140"/>
            <a:ext cx="542700" cy="33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121" name="Google Shape;121;p23"/>
          <p:cNvSpPr txBox="1"/>
          <p:nvPr>
            <p:ph idx="4" type="subTitle"/>
          </p:nvPr>
        </p:nvSpPr>
        <p:spPr>
          <a:xfrm>
            <a:off x="522320" y="1777600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Architecture Design</a:t>
            </a:r>
            <a:endParaRPr/>
          </a:p>
        </p:txBody>
      </p:sp>
      <p:sp>
        <p:nvSpPr>
          <p:cNvPr id="122" name="Google Shape;122;p23"/>
          <p:cNvSpPr txBox="1"/>
          <p:nvPr>
            <p:ph idx="5" type="title"/>
          </p:nvPr>
        </p:nvSpPr>
        <p:spPr>
          <a:xfrm>
            <a:off x="3898029" y="228602"/>
            <a:ext cx="542700" cy="33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123" name="Google Shape;123;p23"/>
          <p:cNvSpPr txBox="1"/>
          <p:nvPr>
            <p:ph idx="6" type="subTitle"/>
          </p:nvPr>
        </p:nvSpPr>
        <p:spPr>
          <a:xfrm>
            <a:off x="3898025" y="473075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Current Situation</a:t>
            </a:r>
            <a:endParaRPr/>
          </a:p>
        </p:txBody>
      </p:sp>
      <p:sp>
        <p:nvSpPr>
          <p:cNvPr id="124" name="Google Shape;124;p23"/>
          <p:cNvSpPr txBox="1"/>
          <p:nvPr>
            <p:ph idx="7" type="title"/>
          </p:nvPr>
        </p:nvSpPr>
        <p:spPr>
          <a:xfrm>
            <a:off x="6207225" y="228602"/>
            <a:ext cx="542700" cy="33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125" name="Google Shape;125;p23"/>
          <p:cNvSpPr txBox="1"/>
          <p:nvPr>
            <p:ph idx="8" type="subTitle"/>
          </p:nvPr>
        </p:nvSpPr>
        <p:spPr>
          <a:xfrm>
            <a:off x="6207225" y="473075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Vision &amp; Mission</a:t>
            </a:r>
            <a:endParaRPr/>
          </a:p>
        </p:txBody>
      </p:sp>
      <p:sp>
        <p:nvSpPr>
          <p:cNvPr id="126" name="Google Shape;126;p23"/>
          <p:cNvSpPr txBox="1"/>
          <p:nvPr>
            <p:ph idx="9" type="title"/>
          </p:nvPr>
        </p:nvSpPr>
        <p:spPr>
          <a:xfrm>
            <a:off x="2537808" y="1493565"/>
            <a:ext cx="542700" cy="33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sp>
        <p:nvSpPr>
          <p:cNvPr id="127" name="Google Shape;127;p23"/>
          <p:cNvSpPr txBox="1"/>
          <p:nvPr>
            <p:ph idx="13" type="subTitle"/>
          </p:nvPr>
        </p:nvSpPr>
        <p:spPr>
          <a:xfrm>
            <a:off x="2537800" y="1738025"/>
            <a:ext cx="19029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Smart Contract Design</a:t>
            </a:r>
            <a:endParaRPr/>
          </a:p>
        </p:txBody>
      </p:sp>
      <p:sp>
        <p:nvSpPr>
          <p:cNvPr id="128" name="Google Shape;128;p23"/>
          <p:cNvSpPr txBox="1"/>
          <p:nvPr>
            <p:ph idx="14" type="title"/>
          </p:nvPr>
        </p:nvSpPr>
        <p:spPr>
          <a:xfrm>
            <a:off x="5062700" y="1493565"/>
            <a:ext cx="542700" cy="33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06</a:t>
            </a:r>
            <a:endParaRPr/>
          </a:p>
        </p:txBody>
      </p:sp>
      <p:sp>
        <p:nvSpPr>
          <p:cNvPr id="129" name="Google Shape;129;p23"/>
          <p:cNvSpPr txBox="1"/>
          <p:nvPr>
            <p:ph idx="15" type="subTitle"/>
          </p:nvPr>
        </p:nvSpPr>
        <p:spPr>
          <a:xfrm>
            <a:off x="5062700" y="1738025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Compliance Model</a:t>
            </a:r>
            <a:endParaRPr/>
          </a:p>
        </p:txBody>
      </p:sp>
      <p:sp>
        <p:nvSpPr>
          <p:cNvPr id="130" name="Google Shape;130;p23"/>
          <p:cNvSpPr txBox="1"/>
          <p:nvPr>
            <p:ph idx="16" type="title"/>
          </p:nvPr>
        </p:nvSpPr>
        <p:spPr>
          <a:xfrm>
            <a:off x="3294642" y="2744624"/>
            <a:ext cx="542700" cy="33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08</a:t>
            </a:r>
            <a:endParaRPr/>
          </a:p>
        </p:txBody>
      </p:sp>
      <p:sp>
        <p:nvSpPr>
          <p:cNvPr id="131" name="Google Shape;131;p23"/>
          <p:cNvSpPr txBox="1"/>
          <p:nvPr>
            <p:ph idx="17" type="subTitle"/>
          </p:nvPr>
        </p:nvSpPr>
        <p:spPr>
          <a:xfrm>
            <a:off x="3294648" y="2989100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Security Framework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23"/>
          <p:cNvSpPr txBox="1"/>
          <p:nvPr>
            <p:ph idx="18" type="title"/>
          </p:nvPr>
        </p:nvSpPr>
        <p:spPr>
          <a:xfrm>
            <a:off x="5250025" y="2744612"/>
            <a:ext cx="542700" cy="33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09</a:t>
            </a:r>
            <a:endParaRPr/>
          </a:p>
        </p:txBody>
      </p:sp>
      <p:sp>
        <p:nvSpPr>
          <p:cNvPr id="133" name="Google Shape;133;p23"/>
          <p:cNvSpPr txBox="1"/>
          <p:nvPr>
            <p:ph idx="19" type="subTitle"/>
          </p:nvPr>
        </p:nvSpPr>
        <p:spPr>
          <a:xfrm>
            <a:off x="5250025" y="2989088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Privacy</a:t>
            </a:r>
            <a:endParaRPr/>
          </a:p>
        </p:txBody>
      </p:sp>
      <p:sp>
        <p:nvSpPr>
          <p:cNvPr id="134" name="Google Shape;134;p23"/>
          <p:cNvSpPr txBox="1"/>
          <p:nvPr>
            <p:ph idx="16" type="title"/>
          </p:nvPr>
        </p:nvSpPr>
        <p:spPr>
          <a:xfrm>
            <a:off x="4331942" y="3896724"/>
            <a:ext cx="542700" cy="33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09</a:t>
            </a:r>
            <a:endParaRPr/>
          </a:p>
        </p:txBody>
      </p:sp>
      <p:sp>
        <p:nvSpPr>
          <p:cNvPr id="135" name="Google Shape;135;p23"/>
          <p:cNvSpPr txBox="1"/>
          <p:nvPr>
            <p:ph idx="17" type="subTitle"/>
          </p:nvPr>
        </p:nvSpPr>
        <p:spPr>
          <a:xfrm>
            <a:off x="4331948" y="4141200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Summary</a:t>
            </a:r>
            <a:endParaRPr/>
          </a:p>
        </p:txBody>
      </p:sp>
      <p:sp>
        <p:nvSpPr>
          <p:cNvPr id="136" name="Google Shape;136;p23"/>
          <p:cNvSpPr txBox="1"/>
          <p:nvPr>
            <p:ph idx="14" type="title"/>
          </p:nvPr>
        </p:nvSpPr>
        <p:spPr>
          <a:xfrm>
            <a:off x="7045000" y="1493565"/>
            <a:ext cx="542700" cy="33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07</a:t>
            </a:r>
            <a:endParaRPr/>
          </a:p>
        </p:txBody>
      </p:sp>
      <p:sp>
        <p:nvSpPr>
          <p:cNvPr id="137" name="Google Shape;137;p23"/>
          <p:cNvSpPr txBox="1"/>
          <p:nvPr>
            <p:ph idx="15" type="subTitle"/>
          </p:nvPr>
        </p:nvSpPr>
        <p:spPr>
          <a:xfrm>
            <a:off x="7045000" y="1738025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Key Design Decisions</a:t>
            </a:r>
            <a:endParaRPr/>
          </a:p>
        </p:txBody>
      </p:sp>
      <p:sp>
        <p:nvSpPr>
          <p:cNvPr id="138" name="Google Shape;138;p23"/>
          <p:cNvSpPr txBox="1"/>
          <p:nvPr>
            <p:ph idx="18" type="title"/>
          </p:nvPr>
        </p:nvSpPr>
        <p:spPr>
          <a:xfrm>
            <a:off x="6957625" y="2744637"/>
            <a:ext cx="542700" cy="33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08</a:t>
            </a:r>
            <a:endParaRPr/>
          </a:p>
        </p:txBody>
      </p:sp>
      <p:sp>
        <p:nvSpPr>
          <p:cNvPr id="139" name="Google Shape;139;p23"/>
          <p:cNvSpPr txBox="1"/>
          <p:nvPr>
            <p:ph idx="19" type="subTitle"/>
          </p:nvPr>
        </p:nvSpPr>
        <p:spPr>
          <a:xfrm>
            <a:off x="6957625" y="2989113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Risks &amp; Challenges</a:t>
            </a:r>
            <a:endParaRPr/>
          </a:p>
        </p:txBody>
      </p:sp>
      <p:sp>
        <p:nvSpPr>
          <p:cNvPr id="140" name="Google Shape;140;p23"/>
          <p:cNvSpPr txBox="1"/>
          <p:nvPr>
            <p:ph idx="16" type="title"/>
          </p:nvPr>
        </p:nvSpPr>
        <p:spPr>
          <a:xfrm>
            <a:off x="6511742" y="3995674"/>
            <a:ext cx="542700" cy="33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10</a:t>
            </a:r>
            <a:endParaRPr/>
          </a:p>
        </p:txBody>
      </p:sp>
      <p:sp>
        <p:nvSpPr>
          <p:cNvPr id="141" name="Google Shape;141;p23"/>
          <p:cNvSpPr txBox="1"/>
          <p:nvPr>
            <p:ph idx="17" type="subTitle"/>
          </p:nvPr>
        </p:nvSpPr>
        <p:spPr>
          <a:xfrm>
            <a:off x="6511748" y="4240150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Q&amp;A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4"/>
          <p:cNvSpPr txBox="1"/>
          <p:nvPr>
            <p:ph type="title"/>
          </p:nvPr>
        </p:nvSpPr>
        <p:spPr>
          <a:xfrm>
            <a:off x="228600" y="3269200"/>
            <a:ext cx="3155400" cy="1645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Project Overview</a:t>
            </a:r>
            <a:endParaRPr sz="4000"/>
          </a:p>
        </p:txBody>
      </p:sp>
      <p:sp>
        <p:nvSpPr>
          <p:cNvPr id="147" name="Google Shape;147;p24"/>
          <p:cNvSpPr txBox="1"/>
          <p:nvPr>
            <p:ph idx="1" type="subTitle"/>
          </p:nvPr>
        </p:nvSpPr>
        <p:spPr>
          <a:xfrm>
            <a:off x="3575175" y="335425"/>
            <a:ext cx="5222700" cy="310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latin typeface="Bricolage Grotesque"/>
                <a:ea typeface="Bricolage Grotesque"/>
                <a:cs typeface="Bricolage Grotesque"/>
                <a:sym typeface="Bricolage Grotesque"/>
              </a:rPr>
              <a:t>RWA Tokenization Platform</a:t>
            </a:r>
            <a:endParaRPr b="1" sz="2200"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Bridging Traditional Finance with Blockchain Technology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Bricolage Grotesque"/>
                <a:ea typeface="Bricolage Grotesque"/>
                <a:cs typeface="Bricolage Grotesque"/>
                <a:sym typeface="Bricolage Grotesque"/>
              </a:rPr>
              <a:t>Project Scope:</a:t>
            </a:r>
            <a:endParaRPr b="1" sz="1400"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Tokenization of Real-World Assets (Real Estate, Private Credit, Funds)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On-chain compliance enforcement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Secondary market infrastructure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Institutional-grade security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Bricolage Grotesque"/>
                <a:ea typeface="Bricolage Grotesque"/>
                <a:cs typeface="Bricolage Grotesque"/>
                <a:sym typeface="Bricolage Grotesque"/>
              </a:rPr>
              <a:t>Key Features:</a:t>
            </a:r>
            <a:endParaRPr b="1" sz="1400"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✅ Fractional ownership through ERC-20 tokens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✅ Automated regulatory compliance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✅ Multi-signature administration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✅ Hybrid custody model (MPC + self-custody)</a:t>
            </a:r>
            <a:endParaRPr/>
          </a:p>
        </p:txBody>
      </p:sp>
      <p:pic>
        <p:nvPicPr>
          <p:cNvPr id="148" name="Google Shape;148;p24" title="65faabf73885c100017d3640_What is Staking and How Does it Work 1600 900.png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0" l="19377" r="19377" t="0"/>
          <a:stretch/>
        </p:blipFill>
        <p:spPr>
          <a:xfrm>
            <a:off x="278050" y="553050"/>
            <a:ext cx="2792700" cy="25650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5"/>
          <p:cNvSpPr txBox="1"/>
          <p:nvPr>
            <p:ph type="title"/>
          </p:nvPr>
        </p:nvSpPr>
        <p:spPr>
          <a:xfrm>
            <a:off x="228600" y="554398"/>
            <a:ext cx="3201600" cy="1970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Current Situation</a:t>
            </a:r>
            <a:endParaRPr/>
          </a:p>
        </p:txBody>
      </p:sp>
      <p:pic>
        <p:nvPicPr>
          <p:cNvPr id="154" name="Google Shape;154;p25" title="65325c9b54e41a00014a2480_The Tokenization Revolution-1600 900.png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30098" l="0" r="0" t="28074"/>
          <a:stretch/>
        </p:blipFill>
        <p:spPr>
          <a:xfrm>
            <a:off x="228600" y="2910990"/>
            <a:ext cx="8687100" cy="2043900"/>
          </a:xfrm>
          <a:prstGeom prst="roundRect">
            <a:avLst>
              <a:gd fmla="val 16667" name="adj"/>
            </a:avLst>
          </a:prstGeom>
        </p:spPr>
      </p:pic>
      <p:sp>
        <p:nvSpPr>
          <p:cNvPr id="155" name="Google Shape;155;p25"/>
          <p:cNvSpPr txBox="1"/>
          <p:nvPr>
            <p:ph idx="1" type="subTitle"/>
          </p:nvPr>
        </p:nvSpPr>
        <p:spPr>
          <a:xfrm>
            <a:off x="3995400" y="554400"/>
            <a:ext cx="4920300" cy="219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latin typeface="Bricolage Grotesque"/>
                <a:ea typeface="Bricolage Grotesque"/>
                <a:cs typeface="Bricolage Grotesque"/>
                <a:sym typeface="Bricolage Grotesque"/>
              </a:rPr>
              <a:t>Market Problems:</a:t>
            </a:r>
            <a:endParaRPr b="1" sz="2200"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L</a:t>
            </a:r>
            <a:r>
              <a:rPr b="1" lang="en"/>
              <a:t>iquidity:</a:t>
            </a:r>
            <a:r>
              <a:rPr lang="en"/>
              <a:t> Assets locked for years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High Minimums:</a:t>
            </a:r>
            <a:r>
              <a:rPr lang="en"/>
              <a:t> $50K+ investments required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Manual Processes:</a:t>
            </a:r>
            <a:r>
              <a:rPr lang="en"/>
              <a:t> Slow, expensive operations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Limited Access:</a:t>
            </a:r>
            <a:r>
              <a:rPr lang="en"/>
              <a:t> Geographic restrictions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Opacity:</a:t>
            </a:r>
            <a:r>
              <a:rPr lang="en"/>
              <a:t> No transparent pricing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Opportunity:</a:t>
            </a:r>
            <a:r>
              <a:rPr lang="en"/>
              <a:t> $16T+ addressable RWA market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6"/>
          <p:cNvSpPr txBox="1"/>
          <p:nvPr>
            <p:ph type="title"/>
          </p:nvPr>
        </p:nvSpPr>
        <p:spPr>
          <a:xfrm>
            <a:off x="456250" y="551650"/>
            <a:ext cx="2591700" cy="171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Vision &amp; Mission</a:t>
            </a:r>
            <a:endParaRPr/>
          </a:p>
        </p:txBody>
      </p:sp>
      <p:sp>
        <p:nvSpPr>
          <p:cNvPr id="161" name="Google Shape;161;p26"/>
          <p:cNvSpPr txBox="1"/>
          <p:nvPr>
            <p:ph idx="2" type="subTitle"/>
          </p:nvPr>
        </p:nvSpPr>
        <p:spPr>
          <a:xfrm>
            <a:off x="3767953" y="1242975"/>
            <a:ext cx="5147400" cy="62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Vision: Democratize institutional investment access via blockchain</a:t>
            </a:r>
            <a:endParaRPr/>
          </a:p>
        </p:txBody>
      </p:sp>
      <p:sp>
        <p:nvSpPr>
          <p:cNvPr id="162" name="Google Shape;162;p26"/>
          <p:cNvSpPr txBox="1"/>
          <p:nvPr>
            <p:ph idx="1" type="subTitle"/>
          </p:nvPr>
        </p:nvSpPr>
        <p:spPr>
          <a:xfrm>
            <a:off x="3768000" y="1795575"/>
            <a:ext cx="5147400" cy="124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Core Principles: Security First - Multi-layered protection, Compliance by Design - Regulations embedded in code, Investor Protection - Capital preservation mechanisms</a:t>
            </a:r>
            <a:endParaRPr/>
          </a:p>
        </p:txBody>
      </p:sp>
      <p:sp>
        <p:nvSpPr>
          <p:cNvPr id="163" name="Google Shape;163;p26"/>
          <p:cNvSpPr txBox="1"/>
          <p:nvPr>
            <p:ph idx="3" type="subTitle"/>
          </p:nvPr>
        </p:nvSpPr>
        <p:spPr>
          <a:xfrm>
            <a:off x="3767925" y="3669600"/>
            <a:ext cx="5147400" cy="124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Tokenizes assets efficiently, Embeds regulations in code, Protects investor capital, Scales globally.</a:t>
            </a:r>
            <a:endParaRPr/>
          </a:p>
        </p:txBody>
      </p:sp>
      <p:sp>
        <p:nvSpPr>
          <p:cNvPr id="164" name="Google Shape;164;p26"/>
          <p:cNvSpPr txBox="1"/>
          <p:nvPr>
            <p:ph idx="4" type="subTitle"/>
          </p:nvPr>
        </p:nvSpPr>
        <p:spPr>
          <a:xfrm>
            <a:off x="3767855" y="3117000"/>
            <a:ext cx="5147400" cy="62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Mission: Build secure, compliant platform</a:t>
            </a:r>
            <a:endParaRPr/>
          </a:p>
        </p:txBody>
      </p:sp>
      <p:pic>
        <p:nvPicPr>
          <p:cNvPr id="165" name="Google Shape;165;p26" title="658d52aabf8d3f0001ef2ed7_How to Secure Crypto Account 1600 900.png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0" l="19377" r="19377" t="0"/>
          <a:stretch/>
        </p:blipFill>
        <p:spPr>
          <a:xfrm>
            <a:off x="395775" y="2270650"/>
            <a:ext cx="2792700" cy="25650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7"/>
          <p:cNvSpPr txBox="1"/>
          <p:nvPr>
            <p:ph type="title"/>
          </p:nvPr>
        </p:nvSpPr>
        <p:spPr>
          <a:xfrm>
            <a:off x="228600" y="3336550"/>
            <a:ext cx="8628600" cy="151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3700"/>
              <a:t>Design</a:t>
            </a:r>
            <a:r>
              <a:rPr b="0" lang="en" sz="3400"/>
              <a:t> </a:t>
            </a:r>
            <a:r>
              <a:rPr lang="en" sz="10000"/>
              <a:t>Architecture</a:t>
            </a:r>
            <a:endParaRPr sz="10000"/>
          </a:p>
        </p:txBody>
      </p:sp>
      <p:pic>
        <p:nvPicPr>
          <p:cNvPr id="171" name="Google Shape;171;p27" title="architectur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839204" cy="2896048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8"/>
          <p:cNvSpPr txBox="1"/>
          <p:nvPr>
            <p:ph type="title"/>
          </p:nvPr>
        </p:nvSpPr>
        <p:spPr>
          <a:xfrm>
            <a:off x="257700" y="4354875"/>
            <a:ext cx="8628600" cy="57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Architecture Part - I</a:t>
            </a:r>
            <a:endParaRPr sz="3600"/>
          </a:p>
        </p:txBody>
      </p:sp>
      <p:pic>
        <p:nvPicPr>
          <p:cNvPr id="177" name="Google Shape;177;p28" title="architecture copy.png"/>
          <p:cNvPicPr preferRelativeResize="0"/>
          <p:nvPr/>
        </p:nvPicPr>
        <p:blipFill rotWithShape="1">
          <a:blip r:embed="rId3">
            <a:alphaModFix/>
          </a:blip>
          <a:srcRect b="0" l="4370" r="4379" t="0"/>
          <a:stretch/>
        </p:blipFill>
        <p:spPr>
          <a:xfrm>
            <a:off x="949887" y="241450"/>
            <a:ext cx="7244227" cy="3984901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29" title="architecture copy 2.png"/>
          <p:cNvPicPr preferRelativeResize="0"/>
          <p:nvPr/>
        </p:nvPicPr>
        <p:blipFill rotWithShape="1">
          <a:blip r:embed="rId3">
            <a:alphaModFix/>
          </a:blip>
          <a:srcRect b="980" l="0" r="0" t="990"/>
          <a:stretch/>
        </p:blipFill>
        <p:spPr>
          <a:xfrm>
            <a:off x="80250" y="126000"/>
            <a:ext cx="8983501" cy="43301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pic>
      <p:sp>
        <p:nvSpPr>
          <p:cNvPr id="183" name="Google Shape;183;p29"/>
          <p:cNvSpPr txBox="1"/>
          <p:nvPr>
            <p:ph type="title"/>
          </p:nvPr>
        </p:nvSpPr>
        <p:spPr>
          <a:xfrm>
            <a:off x="257700" y="4554100"/>
            <a:ext cx="8628600" cy="37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Architecture Part - II</a:t>
            </a:r>
            <a:endParaRPr sz="3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0"/>
          <p:cNvSpPr txBox="1"/>
          <p:nvPr>
            <p:ph type="title"/>
          </p:nvPr>
        </p:nvSpPr>
        <p:spPr>
          <a:xfrm>
            <a:off x="228600" y="228600"/>
            <a:ext cx="8686500" cy="76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Smart Contract Design</a:t>
            </a:r>
            <a:endParaRPr/>
          </a:p>
        </p:txBody>
      </p:sp>
      <p:sp>
        <p:nvSpPr>
          <p:cNvPr id="189" name="Google Shape;189;p30"/>
          <p:cNvSpPr txBox="1"/>
          <p:nvPr/>
        </p:nvSpPr>
        <p:spPr>
          <a:xfrm>
            <a:off x="228600" y="3572675"/>
            <a:ext cx="1876500" cy="114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rPr>
              <a:t>ERC-20 with ERC-1400/ERC-3643-like feature. Most common for fractional ownership, supports compliance hooks.</a:t>
            </a:r>
            <a:endParaRPr sz="1200">
              <a:solidFill>
                <a:schemeClr val="dk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190" name="Google Shape;190;p30"/>
          <p:cNvSpPr txBox="1"/>
          <p:nvPr/>
        </p:nvSpPr>
        <p:spPr>
          <a:xfrm>
            <a:off x="228600" y="2688100"/>
            <a:ext cx="18765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>
                <a:solidFill>
                  <a:schemeClr val="dk2"/>
                </a:solidFill>
                <a:latin typeface="Bricolage Grotesque ExtraLight"/>
                <a:ea typeface="Bricolage Grotesque ExtraLight"/>
                <a:cs typeface="Bricolage Grotesque ExtraLight"/>
                <a:sym typeface="Bricolage Grotesque ExtraLight"/>
              </a:rPr>
              <a:t>01</a:t>
            </a:r>
            <a:endParaRPr sz="5000">
              <a:solidFill>
                <a:schemeClr val="dk2"/>
              </a:solidFill>
              <a:latin typeface="Bricolage Grotesque ExtraLight"/>
              <a:ea typeface="Bricolage Grotesque ExtraLight"/>
              <a:cs typeface="Bricolage Grotesque ExtraLight"/>
              <a:sym typeface="Bricolage Grotesque ExtraLight"/>
            </a:endParaRPr>
          </a:p>
        </p:txBody>
      </p:sp>
      <p:cxnSp>
        <p:nvCxnSpPr>
          <p:cNvPr id="191" name="Google Shape;191;p30"/>
          <p:cNvCxnSpPr/>
          <p:nvPr/>
        </p:nvCxnSpPr>
        <p:spPr>
          <a:xfrm>
            <a:off x="231925" y="2693525"/>
            <a:ext cx="86955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2" name="Google Shape;192;p30"/>
          <p:cNvSpPr txBox="1"/>
          <p:nvPr/>
        </p:nvSpPr>
        <p:spPr>
          <a:xfrm>
            <a:off x="228600" y="2306150"/>
            <a:ext cx="1500300" cy="381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RWA Token (ERC-20 with hooks)</a:t>
            </a:r>
            <a:endParaRPr sz="1600">
              <a:solidFill>
                <a:schemeClr val="dk2"/>
              </a:solidFill>
              <a:latin typeface="Bricolage Grotesque"/>
              <a:ea typeface="Bricolage Grotesque"/>
              <a:cs typeface="Bricolage Grotesque"/>
              <a:sym typeface="Bricolage Grotesque"/>
            </a:endParaRPr>
          </a:p>
        </p:txBody>
      </p:sp>
      <p:sp>
        <p:nvSpPr>
          <p:cNvPr id="193" name="Google Shape;193;p30"/>
          <p:cNvSpPr txBox="1"/>
          <p:nvPr/>
        </p:nvSpPr>
        <p:spPr>
          <a:xfrm>
            <a:off x="2498825" y="3572674"/>
            <a:ext cx="1876500" cy="114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rPr>
              <a:t>On-chain allowlist + modular compliance contract. Ensures enforcement at contract level, not just backend.</a:t>
            </a:r>
            <a:endParaRPr sz="1200">
              <a:solidFill>
                <a:schemeClr val="dk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194" name="Google Shape;194;p30"/>
          <p:cNvSpPr txBox="1"/>
          <p:nvPr/>
        </p:nvSpPr>
        <p:spPr>
          <a:xfrm>
            <a:off x="2498800" y="2688100"/>
            <a:ext cx="18765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>
                <a:solidFill>
                  <a:schemeClr val="dk2"/>
                </a:solidFill>
                <a:latin typeface="Bricolage Grotesque ExtraLight"/>
                <a:ea typeface="Bricolage Grotesque ExtraLight"/>
                <a:cs typeface="Bricolage Grotesque ExtraLight"/>
                <a:sym typeface="Bricolage Grotesque ExtraLight"/>
              </a:rPr>
              <a:t>02</a:t>
            </a:r>
            <a:endParaRPr sz="5000">
              <a:solidFill>
                <a:schemeClr val="dk2"/>
              </a:solidFill>
              <a:latin typeface="Bricolage Grotesque ExtraLight"/>
              <a:ea typeface="Bricolage Grotesque ExtraLight"/>
              <a:cs typeface="Bricolage Grotesque ExtraLight"/>
              <a:sym typeface="Bricolage Grotesque ExtraLight"/>
            </a:endParaRPr>
          </a:p>
        </p:txBody>
      </p:sp>
      <p:sp>
        <p:nvSpPr>
          <p:cNvPr id="195" name="Google Shape;195;p30"/>
          <p:cNvSpPr txBox="1"/>
          <p:nvPr/>
        </p:nvSpPr>
        <p:spPr>
          <a:xfrm>
            <a:off x="2498825" y="2306150"/>
            <a:ext cx="1489200" cy="381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Compliance Module</a:t>
            </a:r>
            <a:endParaRPr sz="1600">
              <a:solidFill>
                <a:schemeClr val="dk2"/>
              </a:solidFill>
              <a:latin typeface="Bricolage Grotesque"/>
              <a:ea typeface="Bricolage Grotesque"/>
              <a:cs typeface="Bricolage Grotesque"/>
              <a:sym typeface="Bricolage Grotesque"/>
            </a:endParaRPr>
          </a:p>
        </p:txBody>
      </p:sp>
      <p:sp>
        <p:nvSpPr>
          <p:cNvPr id="196" name="Google Shape;196;p30"/>
          <p:cNvSpPr txBox="1"/>
          <p:nvPr/>
        </p:nvSpPr>
        <p:spPr>
          <a:xfrm>
            <a:off x="4769000" y="3572674"/>
            <a:ext cx="1876500" cy="114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rPr>
              <a:t>Primary market sales ( Issuer → Platform → Due Diligence → Contract Deployment → Token Minting )</a:t>
            </a:r>
            <a:endParaRPr sz="1200">
              <a:solidFill>
                <a:schemeClr val="dk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197" name="Google Shape;197;p30"/>
          <p:cNvSpPr txBox="1"/>
          <p:nvPr/>
        </p:nvSpPr>
        <p:spPr>
          <a:xfrm>
            <a:off x="4768975" y="2688100"/>
            <a:ext cx="18765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>
                <a:solidFill>
                  <a:schemeClr val="dk2"/>
                </a:solidFill>
                <a:latin typeface="Bricolage Grotesque ExtraLight"/>
                <a:ea typeface="Bricolage Grotesque ExtraLight"/>
                <a:cs typeface="Bricolage Grotesque ExtraLight"/>
                <a:sym typeface="Bricolage Grotesque ExtraLight"/>
              </a:rPr>
              <a:t>03</a:t>
            </a:r>
            <a:endParaRPr sz="5000">
              <a:solidFill>
                <a:schemeClr val="dk2"/>
              </a:solidFill>
              <a:latin typeface="Bricolage Grotesque ExtraLight"/>
              <a:ea typeface="Bricolage Grotesque ExtraLight"/>
              <a:cs typeface="Bricolage Grotesque ExtraLight"/>
              <a:sym typeface="Bricolage Grotesque ExtraLight"/>
            </a:endParaRPr>
          </a:p>
        </p:txBody>
      </p:sp>
      <p:sp>
        <p:nvSpPr>
          <p:cNvPr id="198" name="Google Shape;198;p30"/>
          <p:cNvSpPr txBox="1"/>
          <p:nvPr/>
        </p:nvSpPr>
        <p:spPr>
          <a:xfrm>
            <a:off x="4769000" y="2306150"/>
            <a:ext cx="1489200" cy="381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Issuance Module</a:t>
            </a:r>
            <a:endParaRPr b="1" sz="1600">
              <a:solidFill>
                <a:schemeClr val="dk2"/>
              </a:solidFill>
              <a:latin typeface="Bricolage Grotesque"/>
              <a:ea typeface="Bricolage Grotesque"/>
              <a:cs typeface="Bricolage Grotesque"/>
              <a:sym typeface="Bricolage Grotesque"/>
            </a:endParaRPr>
          </a:p>
        </p:txBody>
      </p:sp>
      <p:sp>
        <p:nvSpPr>
          <p:cNvPr id="199" name="Google Shape;199;p30"/>
          <p:cNvSpPr txBox="1"/>
          <p:nvPr/>
        </p:nvSpPr>
        <p:spPr>
          <a:xfrm>
            <a:off x="7039200" y="3572674"/>
            <a:ext cx="1876500" cy="114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rPr>
              <a:t>Dividends and redemptions.</a:t>
            </a:r>
            <a:br>
              <a:rPr lang="en"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rPr>
            </a:br>
            <a:r>
              <a:rPr lang="en"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rPr>
              <a:t>Asset and investor management</a:t>
            </a:r>
            <a:endParaRPr sz="1200">
              <a:solidFill>
                <a:schemeClr val="dk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00" name="Google Shape;200;p30"/>
          <p:cNvSpPr txBox="1"/>
          <p:nvPr/>
        </p:nvSpPr>
        <p:spPr>
          <a:xfrm>
            <a:off x="7039175" y="2688100"/>
            <a:ext cx="18765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>
                <a:solidFill>
                  <a:schemeClr val="dk2"/>
                </a:solidFill>
                <a:latin typeface="Bricolage Grotesque ExtraLight"/>
                <a:ea typeface="Bricolage Grotesque ExtraLight"/>
                <a:cs typeface="Bricolage Grotesque ExtraLight"/>
                <a:sym typeface="Bricolage Grotesque ExtraLight"/>
              </a:rPr>
              <a:t>04</a:t>
            </a:r>
            <a:endParaRPr sz="5000">
              <a:solidFill>
                <a:schemeClr val="dk2"/>
              </a:solidFill>
              <a:latin typeface="Bricolage Grotesque ExtraLight"/>
              <a:ea typeface="Bricolage Grotesque ExtraLight"/>
              <a:cs typeface="Bricolage Grotesque ExtraLight"/>
              <a:sym typeface="Bricolage Grotesque ExtraLight"/>
            </a:endParaRPr>
          </a:p>
        </p:txBody>
      </p:sp>
      <p:sp>
        <p:nvSpPr>
          <p:cNvPr id="201" name="Google Shape;201;p30"/>
          <p:cNvSpPr txBox="1"/>
          <p:nvPr/>
        </p:nvSpPr>
        <p:spPr>
          <a:xfrm>
            <a:off x="7039200" y="2306150"/>
            <a:ext cx="1489200" cy="381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Corporate Actions &amp; Registry</a:t>
            </a:r>
            <a:endParaRPr sz="1600">
              <a:solidFill>
                <a:schemeClr val="dk2"/>
              </a:solidFill>
              <a:latin typeface="Bricolage Grotesque"/>
              <a:ea typeface="Bricolage Grotesque"/>
              <a:cs typeface="Bricolage Grotesque"/>
              <a:sym typeface="Bricolage Grotesque"/>
            </a:endParaRPr>
          </a:p>
        </p:txBody>
      </p:sp>
      <p:sp>
        <p:nvSpPr>
          <p:cNvPr id="202" name="Google Shape;202;p30"/>
          <p:cNvSpPr txBox="1"/>
          <p:nvPr/>
        </p:nvSpPr>
        <p:spPr>
          <a:xfrm>
            <a:off x="290750" y="1265775"/>
            <a:ext cx="300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chemeClr val="dk1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Modular Architecture: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1"/>
          <p:cNvSpPr txBox="1"/>
          <p:nvPr>
            <p:ph type="title"/>
          </p:nvPr>
        </p:nvSpPr>
        <p:spPr>
          <a:xfrm>
            <a:off x="1887000" y="3909000"/>
            <a:ext cx="7028400" cy="100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Compliance Model</a:t>
            </a:r>
            <a:endParaRPr/>
          </a:p>
        </p:txBody>
      </p:sp>
      <p:sp>
        <p:nvSpPr>
          <p:cNvPr id="208" name="Google Shape;208;p31"/>
          <p:cNvSpPr txBox="1"/>
          <p:nvPr>
            <p:ph idx="2" type="subTitle"/>
          </p:nvPr>
        </p:nvSpPr>
        <p:spPr>
          <a:xfrm>
            <a:off x="228450" y="1591350"/>
            <a:ext cx="2525400" cy="14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Transfer restrictions at contract level. Allowlist validation before any transaction. Jurisdiction encoding (country restrictions). Administrative override capabilities</a:t>
            </a:r>
            <a:endParaRPr/>
          </a:p>
        </p:txBody>
      </p:sp>
      <p:sp>
        <p:nvSpPr>
          <p:cNvPr id="209" name="Google Shape;209;p31"/>
          <p:cNvSpPr txBox="1"/>
          <p:nvPr>
            <p:ph idx="1" type="subTitle"/>
          </p:nvPr>
        </p:nvSpPr>
        <p:spPr>
          <a:xfrm>
            <a:off x="3309609" y="1591350"/>
            <a:ext cx="2525400" cy="14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KYC/AML via accredited providers. Accreditation verification. Sanctions screening. Ongoing monitoring</a:t>
            </a:r>
            <a:endParaRPr/>
          </a:p>
        </p:txBody>
      </p:sp>
      <p:sp>
        <p:nvSpPr>
          <p:cNvPr id="210" name="Google Shape;210;p31"/>
          <p:cNvSpPr txBox="1"/>
          <p:nvPr>
            <p:ph idx="3" type="subTitle"/>
          </p:nvPr>
        </p:nvSpPr>
        <p:spPr>
          <a:xfrm>
            <a:off x="6390000" y="1591350"/>
            <a:ext cx="2525400" cy="14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✅ Pause/Unpause functionality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✅ Address freezing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✅ Forced transfers (regulatory requirements)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✅ Audit trails for all transactions</a:t>
            </a:r>
            <a:endParaRPr/>
          </a:p>
        </p:txBody>
      </p:sp>
      <p:sp>
        <p:nvSpPr>
          <p:cNvPr id="211" name="Google Shape;211;p31"/>
          <p:cNvSpPr txBox="1"/>
          <p:nvPr>
            <p:ph idx="4" type="title"/>
          </p:nvPr>
        </p:nvSpPr>
        <p:spPr>
          <a:xfrm>
            <a:off x="3308991" y="228600"/>
            <a:ext cx="1640100" cy="76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212" name="Google Shape;212;p31"/>
          <p:cNvSpPr txBox="1"/>
          <p:nvPr>
            <p:ph idx="5" type="title"/>
          </p:nvPr>
        </p:nvSpPr>
        <p:spPr>
          <a:xfrm>
            <a:off x="228475" y="228968"/>
            <a:ext cx="1706100" cy="762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213" name="Google Shape;213;p31"/>
          <p:cNvSpPr txBox="1"/>
          <p:nvPr>
            <p:ph idx="6" type="title"/>
          </p:nvPr>
        </p:nvSpPr>
        <p:spPr>
          <a:xfrm>
            <a:off x="6390000" y="228600"/>
            <a:ext cx="1479300" cy="76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214" name="Google Shape;214;p31"/>
          <p:cNvSpPr txBox="1"/>
          <p:nvPr>
            <p:ph idx="7" type="subTitle"/>
          </p:nvPr>
        </p:nvSpPr>
        <p:spPr>
          <a:xfrm>
            <a:off x="3309609" y="1103850"/>
            <a:ext cx="2525400" cy="56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Off-Chain Verification</a:t>
            </a:r>
            <a:endParaRPr/>
          </a:p>
        </p:txBody>
      </p:sp>
      <p:sp>
        <p:nvSpPr>
          <p:cNvPr id="215" name="Google Shape;215;p31"/>
          <p:cNvSpPr txBox="1"/>
          <p:nvPr>
            <p:ph idx="8" type="subTitle"/>
          </p:nvPr>
        </p:nvSpPr>
        <p:spPr>
          <a:xfrm>
            <a:off x="228450" y="1103850"/>
            <a:ext cx="2525400" cy="56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On-Chain Enforcement:</a:t>
            </a:r>
            <a:endParaRPr/>
          </a:p>
        </p:txBody>
      </p:sp>
      <p:sp>
        <p:nvSpPr>
          <p:cNvPr id="216" name="Google Shape;216;p31"/>
          <p:cNvSpPr txBox="1"/>
          <p:nvPr>
            <p:ph idx="9" type="subTitle"/>
          </p:nvPr>
        </p:nvSpPr>
        <p:spPr>
          <a:xfrm>
            <a:off x="6390000" y="1103850"/>
            <a:ext cx="2525400" cy="56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Compliance Features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2"/>
          <p:cNvSpPr txBox="1"/>
          <p:nvPr>
            <p:ph type="title"/>
          </p:nvPr>
        </p:nvSpPr>
        <p:spPr>
          <a:xfrm>
            <a:off x="228600" y="1159200"/>
            <a:ext cx="3636000" cy="282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Design Decisions</a:t>
            </a:r>
            <a:endParaRPr/>
          </a:p>
        </p:txBody>
      </p:sp>
      <p:sp>
        <p:nvSpPr>
          <p:cNvPr id="222" name="Google Shape;222;p32"/>
          <p:cNvSpPr txBox="1"/>
          <p:nvPr>
            <p:ph idx="1" type="subTitle"/>
          </p:nvPr>
        </p:nvSpPr>
        <p:spPr>
          <a:xfrm>
            <a:off x="5061325" y="836367"/>
            <a:ext cx="3854400" cy="5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Fungible token standard, Compatibility, fungibility, simplicity</a:t>
            </a:r>
            <a:endParaRPr/>
          </a:p>
        </p:txBody>
      </p:sp>
      <p:sp>
        <p:nvSpPr>
          <p:cNvPr id="223" name="Google Shape;223;p32"/>
          <p:cNvSpPr txBox="1"/>
          <p:nvPr>
            <p:ph idx="2" type="subTitle"/>
          </p:nvPr>
        </p:nvSpPr>
        <p:spPr>
          <a:xfrm>
            <a:off x="5061325" y="386496"/>
            <a:ext cx="3854400" cy="48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ERC-20 Standard (not ERC-1155) for fungible RWAs</a:t>
            </a:r>
            <a:endParaRPr/>
          </a:p>
        </p:txBody>
      </p:sp>
      <p:sp>
        <p:nvSpPr>
          <p:cNvPr id="224" name="Google Shape;224;p32"/>
          <p:cNvSpPr txBox="1"/>
          <p:nvPr>
            <p:ph idx="3" type="title"/>
          </p:nvPr>
        </p:nvSpPr>
        <p:spPr>
          <a:xfrm>
            <a:off x="4500325" y="346316"/>
            <a:ext cx="561000" cy="48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225" name="Google Shape;225;p32"/>
          <p:cNvSpPr txBox="1"/>
          <p:nvPr>
            <p:ph idx="4" type="subTitle"/>
          </p:nvPr>
        </p:nvSpPr>
        <p:spPr>
          <a:xfrm>
            <a:off x="5061325" y="1988735"/>
            <a:ext cx="3854400" cy="5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Pre-transfer validation callback, Real-time compliance enforcement</a:t>
            </a:r>
            <a:endParaRPr/>
          </a:p>
        </p:txBody>
      </p:sp>
      <p:sp>
        <p:nvSpPr>
          <p:cNvPr id="226" name="Google Shape;226;p32"/>
          <p:cNvSpPr txBox="1"/>
          <p:nvPr>
            <p:ph idx="5" type="subTitle"/>
          </p:nvPr>
        </p:nvSpPr>
        <p:spPr>
          <a:xfrm>
            <a:off x="5061325" y="1570289"/>
            <a:ext cx="3854400" cy="48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Transfer Hooks for compliance enforcement</a:t>
            </a:r>
            <a:endParaRPr/>
          </a:p>
        </p:txBody>
      </p:sp>
      <p:sp>
        <p:nvSpPr>
          <p:cNvPr id="227" name="Google Shape;227;p32"/>
          <p:cNvSpPr txBox="1"/>
          <p:nvPr>
            <p:ph idx="6" type="title"/>
          </p:nvPr>
        </p:nvSpPr>
        <p:spPr>
          <a:xfrm>
            <a:off x="4500325" y="1570208"/>
            <a:ext cx="561000" cy="48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228" name="Google Shape;228;p32"/>
          <p:cNvSpPr txBox="1"/>
          <p:nvPr>
            <p:ph idx="7" type="subTitle"/>
          </p:nvPr>
        </p:nvSpPr>
        <p:spPr>
          <a:xfrm>
            <a:off x="5061325" y="3141128"/>
            <a:ext cx="3854400" cy="5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91919"/>
                </a:solidFill>
                <a:latin typeface="Open Sans"/>
                <a:ea typeface="Open Sans"/>
                <a:cs typeface="Open Sans"/>
                <a:sym typeface="Open Sans"/>
              </a:rPr>
              <a:t>Logic/storage separation for upgrades, Future-proof, fixable, seamless updates</a:t>
            </a:r>
            <a:endParaRPr/>
          </a:p>
        </p:txBody>
      </p:sp>
      <p:sp>
        <p:nvSpPr>
          <p:cNvPr id="229" name="Google Shape;229;p32"/>
          <p:cNvSpPr txBox="1"/>
          <p:nvPr>
            <p:ph idx="8" type="subTitle"/>
          </p:nvPr>
        </p:nvSpPr>
        <p:spPr>
          <a:xfrm>
            <a:off x="5061325" y="2656631"/>
            <a:ext cx="3854400" cy="48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Proxy Pattern for upgradeability</a:t>
            </a:r>
            <a:endParaRPr/>
          </a:p>
        </p:txBody>
      </p:sp>
      <p:sp>
        <p:nvSpPr>
          <p:cNvPr id="230" name="Google Shape;230;p32"/>
          <p:cNvSpPr txBox="1"/>
          <p:nvPr>
            <p:ph idx="9" type="title"/>
          </p:nvPr>
        </p:nvSpPr>
        <p:spPr>
          <a:xfrm>
            <a:off x="4500325" y="2693836"/>
            <a:ext cx="561000" cy="48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231" name="Google Shape;231;p32"/>
          <p:cNvSpPr txBox="1"/>
          <p:nvPr>
            <p:ph idx="13" type="subTitle"/>
          </p:nvPr>
        </p:nvSpPr>
        <p:spPr>
          <a:xfrm>
            <a:off x="5061325" y="4427465"/>
            <a:ext cx="3854400" cy="5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7-day delay before upgrade execution and 3 of 5 signatures required for admin actions</a:t>
            </a:r>
            <a:endParaRPr/>
          </a:p>
        </p:txBody>
      </p:sp>
      <p:sp>
        <p:nvSpPr>
          <p:cNvPr id="232" name="Google Shape;232;p32"/>
          <p:cNvSpPr txBox="1"/>
          <p:nvPr>
            <p:ph idx="14" type="subTitle"/>
          </p:nvPr>
        </p:nvSpPr>
        <p:spPr>
          <a:xfrm>
            <a:off x="5061325" y="4018074"/>
            <a:ext cx="3854400" cy="48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Time-locked Upgrades &amp; Multi-signature Admin</a:t>
            </a:r>
            <a:endParaRPr/>
          </a:p>
        </p:txBody>
      </p:sp>
      <p:sp>
        <p:nvSpPr>
          <p:cNvPr id="233" name="Google Shape;233;p32"/>
          <p:cNvSpPr txBox="1"/>
          <p:nvPr>
            <p:ph idx="15" type="title"/>
          </p:nvPr>
        </p:nvSpPr>
        <p:spPr>
          <a:xfrm>
            <a:off x="4500325" y="3952016"/>
            <a:ext cx="561000" cy="48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3"/>
          <p:cNvSpPr txBox="1"/>
          <p:nvPr>
            <p:ph type="title"/>
          </p:nvPr>
        </p:nvSpPr>
        <p:spPr>
          <a:xfrm>
            <a:off x="198675" y="2960325"/>
            <a:ext cx="3539100" cy="215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Security Framework</a:t>
            </a:r>
            <a:endParaRPr/>
          </a:p>
        </p:txBody>
      </p:sp>
      <p:sp>
        <p:nvSpPr>
          <p:cNvPr id="239" name="Google Shape;239;p33"/>
          <p:cNvSpPr txBox="1"/>
          <p:nvPr>
            <p:ph idx="2" type="subTitle"/>
          </p:nvPr>
        </p:nvSpPr>
        <p:spPr>
          <a:xfrm>
            <a:off x="3943548" y="434375"/>
            <a:ext cx="5120100" cy="625500"/>
          </a:xfrm>
          <a:prstGeom prst="rect">
            <a:avLst/>
          </a:prstGeom>
        </p:spPr>
        <p:txBody>
          <a:bodyPr anchorCtr="0" anchor="b" bIns="90950" lIns="90950" spcFirstLastPara="1" rIns="90950" wrap="square" tIns="9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91"/>
              <a:t>Smart Contracts:</a:t>
            </a:r>
            <a:endParaRPr sz="1591"/>
          </a:p>
        </p:txBody>
      </p:sp>
      <p:sp>
        <p:nvSpPr>
          <p:cNvPr id="240" name="Google Shape;240;p33"/>
          <p:cNvSpPr txBox="1"/>
          <p:nvPr>
            <p:ph idx="1" type="subTitle"/>
          </p:nvPr>
        </p:nvSpPr>
        <p:spPr>
          <a:xfrm>
            <a:off x="3943600" y="984051"/>
            <a:ext cx="5120100" cy="810900"/>
          </a:xfrm>
          <a:prstGeom prst="rect">
            <a:avLst/>
          </a:prstGeom>
        </p:spPr>
        <p:txBody>
          <a:bodyPr anchorCtr="0" anchor="t" bIns="90950" lIns="90950" spcFirstLastPara="1" rIns="90950" wrap="square" tIns="9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We've secured our smart contracts through multiple independent audits, formal verification of critical invariants, a $1M+ bug bounty program, and time-locked upgrades with a 7-day community review period.</a:t>
            </a:r>
            <a:endParaRPr/>
          </a:p>
        </p:txBody>
      </p:sp>
      <p:sp>
        <p:nvSpPr>
          <p:cNvPr id="241" name="Google Shape;241;p33"/>
          <p:cNvSpPr txBox="1"/>
          <p:nvPr>
            <p:ph idx="3" type="subTitle"/>
          </p:nvPr>
        </p:nvSpPr>
        <p:spPr>
          <a:xfrm>
            <a:off x="3943632" y="2267718"/>
            <a:ext cx="5120100" cy="890700"/>
          </a:xfrm>
          <a:prstGeom prst="rect">
            <a:avLst/>
          </a:prstGeom>
        </p:spPr>
        <p:txBody>
          <a:bodyPr anchorCtr="0" anchor="t" bIns="90950" lIns="90950" spcFirstLastPara="1" rIns="90950" wrap="square" tIns="9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Administrative control is protected by a 3-of-5 multi-signature scheme, issuer funds are safeguarded using MPC-based custody, and assets are secured in hardware wallet storage to minimize single points of failure. </a:t>
            </a:r>
            <a:r>
              <a:rPr b="1" lang="en"/>
              <a:t>Operational:</a:t>
            </a:r>
            <a:r>
              <a:rPr lang="en"/>
              <a:t> SOC 2 compliance + $50M insurance + 24/7 monitoring</a:t>
            </a:r>
            <a:endParaRPr/>
          </a:p>
        </p:txBody>
      </p:sp>
      <p:sp>
        <p:nvSpPr>
          <p:cNvPr id="242" name="Google Shape;242;p33"/>
          <p:cNvSpPr txBox="1"/>
          <p:nvPr>
            <p:ph idx="4" type="subTitle"/>
          </p:nvPr>
        </p:nvSpPr>
        <p:spPr>
          <a:xfrm>
            <a:off x="3943563" y="1872538"/>
            <a:ext cx="5120100" cy="449700"/>
          </a:xfrm>
          <a:prstGeom prst="rect">
            <a:avLst/>
          </a:prstGeom>
        </p:spPr>
        <p:txBody>
          <a:bodyPr anchorCtr="0" anchor="b" bIns="90950" lIns="90950" spcFirstLastPara="1" rIns="90950" wrap="square" tIns="9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91"/>
              <a:t>Key Management:</a:t>
            </a:r>
            <a:endParaRPr sz="1591"/>
          </a:p>
        </p:txBody>
      </p:sp>
      <p:pic>
        <p:nvPicPr>
          <p:cNvPr id="243" name="Google Shape;243;p33" title="6582cc97f6b6d50001fc1144_Blockchain Security What Makes a Blockchain Secure 1600 900.png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0" l="19378" r="19372" t="0"/>
          <a:stretch/>
        </p:blipFill>
        <p:spPr>
          <a:xfrm>
            <a:off x="484975" y="526900"/>
            <a:ext cx="2459400" cy="2258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  <p:sp>
        <p:nvSpPr>
          <p:cNvPr id="244" name="Google Shape;244;p33"/>
          <p:cNvSpPr txBox="1"/>
          <p:nvPr>
            <p:ph idx="3" type="subTitle"/>
          </p:nvPr>
        </p:nvSpPr>
        <p:spPr>
          <a:xfrm>
            <a:off x="4023895" y="3631180"/>
            <a:ext cx="5120100" cy="890700"/>
          </a:xfrm>
          <a:prstGeom prst="rect">
            <a:avLst/>
          </a:prstGeom>
        </p:spPr>
        <p:txBody>
          <a:bodyPr anchorCtr="0" anchor="t" bIns="90950" lIns="90950" spcFirstLastPara="1" rIns="90950" wrap="square" tIns="9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treat upgrade risk as our #1 concern. Every upgrade requires 3-of-5 approval, has a 7-day public review period, goes through comprehensive safety checks, and we maintain rollback capability. Emergency keys are completely separate and can only pause the system.</a:t>
            </a:r>
            <a:endParaRPr/>
          </a:p>
        </p:txBody>
      </p:sp>
      <p:sp>
        <p:nvSpPr>
          <p:cNvPr id="245" name="Google Shape;245;p33"/>
          <p:cNvSpPr txBox="1"/>
          <p:nvPr>
            <p:ph idx="4" type="subTitle"/>
          </p:nvPr>
        </p:nvSpPr>
        <p:spPr>
          <a:xfrm>
            <a:off x="4023825" y="3236000"/>
            <a:ext cx="5120100" cy="449700"/>
          </a:xfrm>
          <a:prstGeom prst="rect">
            <a:avLst/>
          </a:prstGeom>
        </p:spPr>
        <p:txBody>
          <a:bodyPr anchorCtr="0" anchor="b" bIns="90950" lIns="90950" spcFirstLastPara="1" rIns="90950" wrap="square" tIns="9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91"/>
              <a:t>Upgrade Risk:</a:t>
            </a:r>
            <a:endParaRPr sz="1591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34"/>
          <p:cNvSpPr txBox="1"/>
          <p:nvPr>
            <p:ph type="title"/>
          </p:nvPr>
        </p:nvSpPr>
        <p:spPr>
          <a:xfrm>
            <a:off x="1887000" y="3909000"/>
            <a:ext cx="7028400" cy="100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Privacy</a:t>
            </a:r>
            <a:endParaRPr/>
          </a:p>
        </p:txBody>
      </p:sp>
      <p:sp>
        <p:nvSpPr>
          <p:cNvPr id="251" name="Google Shape;251;p34"/>
          <p:cNvSpPr txBox="1"/>
          <p:nvPr>
            <p:ph idx="2" type="subTitle"/>
          </p:nvPr>
        </p:nvSpPr>
        <p:spPr>
          <a:xfrm>
            <a:off x="228450" y="1591350"/>
            <a:ext cx="2525400" cy="14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Only non-sensitive information is recorded on-chain, including token balances, a boolean allowlist status, and encoded attributes. This ensures transparency and verifiability while minimizing exposure of user information.</a:t>
            </a:r>
            <a:endParaRPr/>
          </a:p>
        </p:txBody>
      </p:sp>
      <p:sp>
        <p:nvSpPr>
          <p:cNvPr id="252" name="Google Shape;252;p34"/>
          <p:cNvSpPr txBox="1"/>
          <p:nvPr>
            <p:ph idx="1" type="subTitle"/>
          </p:nvPr>
        </p:nvSpPr>
        <p:spPr>
          <a:xfrm>
            <a:off x="3309609" y="1591350"/>
            <a:ext cx="2525400" cy="14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All personally identifiable and sensitive data—such as names, email addresses, government IDs, and financial details—is strictly kept off-chain. This data is handled exclusively by trusted KYC providers and never written to the blockchain.</a:t>
            </a:r>
            <a:endParaRPr/>
          </a:p>
        </p:txBody>
      </p:sp>
      <p:sp>
        <p:nvSpPr>
          <p:cNvPr id="253" name="Google Shape;253;p34"/>
          <p:cNvSpPr txBox="1"/>
          <p:nvPr>
            <p:ph idx="3" type="subTitle"/>
          </p:nvPr>
        </p:nvSpPr>
        <p:spPr>
          <a:xfrm>
            <a:off x="6390000" y="1591350"/>
            <a:ext cx="2525400" cy="14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compliance process follows a privacy-first flow: user data is verified by a KYC provider, the result is encrypted, the allowlist is updated accordingly, and only the final compliance status is reflected on-chain.</a:t>
            </a:r>
            <a:endParaRPr/>
          </a:p>
        </p:txBody>
      </p:sp>
      <p:sp>
        <p:nvSpPr>
          <p:cNvPr id="254" name="Google Shape;254;p34"/>
          <p:cNvSpPr txBox="1"/>
          <p:nvPr>
            <p:ph idx="4" type="title"/>
          </p:nvPr>
        </p:nvSpPr>
        <p:spPr>
          <a:xfrm>
            <a:off x="3308991" y="228600"/>
            <a:ext cx="1640100" cy="76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255" name="Google Shape;255;p34"/>
          <p:cNvSpPr txBox="1"/>
          <p:nvPr>
            <p:ph idx="5" type="title"/>
          </p:nvPr>
        </p:nvSpPr>
        <p:spPr>
          <a:xfrm>
            <a:off x="228475" y="228968"/>
            <a:ext cx="1706100" cy="762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256" name="Google Shape;256;p34"/>
          <p:cNvSpPr txBox="1"/>
          <p:nvPr>
            <p:ph idx="6" type="title"/>
          </p:nvPr>
        </p:nvSpPr>
        <p:spPr>
          <a:xfrm>
            <a:off x="6390000" y="228600"/>
            <a:ext cx="1479300" cy="76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257" name="Google Shape;257;p34"/>
          <p:cNvSpPr txBox="1"/>
          <p:nvPr>
            <p:ph idx="7" type="subTitle"/>
          </p:nvPr>
        </p:nvSpPr>
        <p:spPr>
          <a:xfrm>
            <a:off x="3309609" y="1103850"/>
            <a:ext cx="2525400" cy="56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Never On-Chain</a:t>
            </a:r>
            <a:endParaRPr/>
          </a:p>
        </p:txBody>
      </p:sp>
      <p:sp>
        <p:nvSpPr>
          <p:cNvPr id="258" name="Google Shape;258;p34"/>
          <p:cNvSpPr txBox="1"/>
          <p:nvPr>
            <p:ph idx="8" type="subTitle"/>
          </p:nvPr>
        </p:nvSpPr>
        <p:spPr>
          <a:xfrm>
            <a:off x="228450" y="1103850"/>
            <a:ext cx="2525400" cy="56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On-Chain</a:t>
            </a:r>
            <a:endParaRPr/>
          </a:p>
        </p:txBody>
      </p:sp>
      <p:sp>
        <p:nvSpPr>
          <p:cNvPr id="259" name="Google Shape;259;p34"/>
          <p:cNvSpPr txBox="1"/>
          <p:nvPr>
            <p:ph idx="9" type="subTitle"/>
          </p:nvPr>
        </p:nvSpPr>
        <p:spPr>
          <a:xfrm>
            <a:off x="6390000" y="1103850"/>
            <a:ext cx="2525400" cy="56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Verification Flow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5"/>
          <p:cNvSpPr txBox="1"/>
          <p:nvPr>
            <p:ph type="title"/>
          </p:nvPr>
        </p:nvSpPr>
        <p:spPr>
          <a:xfrm>
            <a:off x="228600" y="228600"/>
            <a:ext cx="8686500" cy="76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Risks &amp; Challenges</a:t>
            </a:r>
            <a:endParaRPr/>
          </a:p>
        </p:txBody>
      </p:sp>
      <p:sp>
        <p:nvSpPr>
          <p:cNvPr id="265" name="Google Shape;265;p35"/>
          <p:cNvSpPr/>
          <p:nvPr/>
        </p:nvSpPr>
        <p:spPr>
          <a:xfrm>
            <a:off x="225700" y="125873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66" name="Google Shape;266;p35"/>
          <p:cNvSpPr/>
          <p:nvPr/>
        </p:nvSpPr>
        <p:spPr>
          <a:xfrm>
            <a:off x="433501" y="125873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67" name="Google Shape;267;p35"/>
          <p:cNvSpPr/>
          <p:nvPr/>
        </p:nvSpPr>
        <p:spPr>
          <a:xfrm>
            <a:off x="641303" y="125873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68" name="Google Shape;268;p35"/>
          <p:cNvSpPr/>
          <p:nvPr/>
        </p:nvSpPr>
        <p:spPr>
          <a:xfrm>
            <a:off x="849104" y="125873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69" name="Google Shape;269;p35"/>
          <p:cNvSpPr/>
          <p:nvPr/>
        </p:nvSpPr>
        <p:spPr>
          <a:xfrm>
            <a:off x="1056906" y="125873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70" name="Google Shape;270;p35"/>
          <p:cNvSpPr/>
          <p:nvPr/>
        </p:nvSpPr>
        <p:spPr>
          <a:xfrm>
            <a:off x="1264707" y="125873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71" name="Google Shape;271;p35"/>
          <p:cNvSpPr/>
          <p:nvPr/>
        </p:nvSpPr>
        <p:spPr>
          <a:xfrm>
            <a:off x="1472508" y="125873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72" name="Google Shape;272;p35"/>
          <p:cNvSpPr/>
          <p:nvPr/>
        </p:nvSpPr>
        <p:spPr>
          <a:xfrm>
            <a:off x="1680310" y="125873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73" name="Google Shape;273;p35"/>
          <p:cNvSpPr/>
          <p:nvPr/>
        </p:nvSpPr>
        <p:spPr>
          <a:xfrm>
            <a:off x="1888111" y="125873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74" name="Google Shape;274;p35"/>
          <p:cNvSpPr/>
          <p:nvPr/>
        </p:nvSpPr>
        <p:spPr>
          <a:xfrm>
            <a:off x="2095913" y="125873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75" name="Google Shape;275;p35"/>
          <p:cNvSpPr txBox="1"/>
          <p:nvPr/>
        </p:nvSpPr>
        <p:spPr>
          <a:xfrm>
            <a:off x="228600" y="1862355"/>
            <a:ext cx="19983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>
                <a:solidFill>
                  <a:schemeClr val="dk2"/>
                </a:solidFill>
                <a:latin typeface="Bricolage Grotesque ExtraLight"/>
                <a:ea typeface="Bricolage Grotesque ExtraLight"/>
                <a:cs typeface="Bricolage Grotesque ExtraLight"/>
                <a:sym typeface="Bricolage Grotesque ExtraLight"/>
              </a:rPr>
              <a:t>50%</a:t>
            </a:r>
            <a:endParaRPr sz="5000">
              <a:solidFill>
                <a:schemeClr val="dk2"/>
              </a:solidFill>
              <a:latin typeface="Bricolage Grotesque ExtraLight"/>
              <a:ea typeface="Bricolage Grotesque ExtraLight"/>
              <a:cs typeface="Bricolage Grotesque ExtraLight"/>
              <a:sym typeface="Bricolage Grotesque ExtraLight"/>
            </a:endParaRPr>
          </a:p>
        </p:txBody>
      </p:sp>
      <p:sp>
        <p:nvSpPr>
          <p:cNvPr id="276" name="Google Shape;276;p35"/>
          <p:cNvSpPr txBox="1"/>
          <p:nvPr/>
        </p:nvSpPr>
        <p:spPr>
          <a:xfrm>
            <a:off x="2369000" y="1258730"/>
            <a:ext cx="2046300" cy="14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Security Risks :</a:t>
            </a:r>
            <a:r>
              <a:rPr lang="en" sz="1200">
                <a:solidFill>
                  <a:schemeClr val="dk2"/>
                </a:solidFill>
                <a:latin typeface="Heebo"/>
                <a:ea typeface="Heebo"/>
                <a:cs typeface="Heebo"/>
                <a:sym typeface="Heebo"/>
              </a:rPr>
              <a:t> Critical threats like smart contract exploits and key compromises require top priority. We address these through multiple audits, bug bounties, and formal verification to protect funds and platform integrity.</a:t>
            </a:r>
            <a:endParaRPr sz="1200">
              <a:solidFill>
                <a:schemeClr val="dk2"/>
              </a:solidFill>
              <a:latin typeface="Heebo"/>
              <a:ea typeface="Heebo"/>
              <a:cs typeface="Heebo"/>
              <a:sym typeface="Heeb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  <a:latin typeface="Heebo"/>
              <a:ea typeface="Heebo"/>
              <a:cs typeface="Heebo"/>
              <a:sym typeface="Heeb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77" name="Google Shape;277;p35"/>
          <p:cNvSpPr/>
          <p:nvPr/>
        </p:nvSpPr>
        <p:spPr>
          <a:xfrm>
            <a:off x="227150" y="330575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78" name="Google Shape;278;p35"/>
          <p:cNvSpPr/>
          <p:nvPr/>
        </p:nvSpPr>
        <p:spPr>
          <a:xfrm>
            <a:off x="434951" y="330575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79" name="Google Shape;279;p35"/>
          <p:cNvSpPr/>
          <p:nvPr/>
        </p:nvSpPr>
        <p:spPr>
          <a:xfrm>
            <a:off x="642753" y="330575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80" name="Google Shape;280;p35"/>
          <p:cNvSpPr/>
          <p:nvPr/>
        </p:nvSpPr>
        <p:spPr>
          <a:xfrm>
            <a:off x="850554" y="330575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81" name="Google Shape;281;p35"/>
          <p:cNvSpPr/>
          <p:nvPr/>
        </p:nvSpPr>
        <p:spPr>
          <a:xfrm>
            <a:off x="1058356" y="330575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82" name="Google Shape;282;p35"/>
          <p:cNvSpPr/>
          <p:nvPr/>
        </p:nvSpPr>
        <p:spPr>
          <a:xfrm>
            <a:off x="1266157" y="330575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83" name="Google Shape;283;p35"/>
          <p:cNvSpPr/>
          <p:nvPr/>
        </p:nvSpPr>
        <p:spPr>
          <a:xfrm>
            <a:off x="1473958" y="330575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84" name="Google Shape;284;p35"/>
          <p:cNvSpPr/>
          <p:nvPr/>
        </p:nvSpPr>
        <p:spPr>
          <a:xfrm>
            <a:off x="1681760" y="330575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85" name="Google Shape;285;p35"/>
          <p:cNvSpPr/>
          <p:nvPr/>
        </p:nvSpPr>
        <p:spPr>
          <a:xfrm>
            <a:off x="1889561" y="330575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86" name="Google Shape;286;p35"/>
          <p:cNvSpPr/>
          <p:nvPr/>
        </p:nvSpPr>
        <p:spPr>
          <a:xfrm>
            <a:off x="2097363" y="330575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87" name="Google Shape;287;p35"/>
          <p:cNvSpPr txBox="1"/>
          <p:nvPr/>
        </p:nvSpPr>
        <p:spPr>
          <a:xfrm>
            <a:off x="230050" y="3909375"/>
            <a:ext cx="19983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>
                <a:solidFill>
                  <a:schemeClr val="dk2"/>
                </a:solidFill>
                <a:latin typeface="Bricolage Grotesque ExtraLight"/>
                <a:ea typeface="Bricolage Grotesque ExtraLight"/>
                <a:cs typeface="Bricolage Grotesque ExtraLight"/>
                <a:sym typeface="Bricolage Grotesque ExtraLight"/>
              </a:rPr>
              <a:t>80</a:t>
            </a:r>
            <a:r>
              <a:rPr lang="en" sz="5000">
                <a:solidFill>
                  <a:schemeClr val="dk2"/>
                </a:solidFill>
                <a:latin typeface="Bricolage Grotesque ExtraLight"/>
                <a:ea typeface="Bricolage Grotesque ExtraLight"/>
                <a:cs typeface="Bricolage Grotesque ExtraLight"/>
                <a:sym typeface="Bricolage Grotesque ExtraLight"/>
              </a:rPr>
              <a:t>%</a:t>
            </a:r>
            <a:endParaRPr sz="5000">
              <a:solidFill>
                <a:schemeClr val="dk2"/>
              </a:solidFill>
              <a:latin typeface="Bricolage Grotesque ExtraLight"/>
              <a:ea typeface="Bricolage Grotesque ExtraLight"/>
              <a:cs typeface="Bricolage Grotesque ExtraLight"/>
              <a:sym typeface="Bricolage Grotesque ExtraLight"/>
            </a:endParaRPr>
          </a:p>
        </p:txBody>
      </p:sp>
      <p:sp>
        <p:nvSpPr>
          <p:cNvPr id="288" name="Google Shape;288;p35"/>
          <p:cNvSpPr txBox="1"/>
          <p:nvPr/>
        </p:nvSpPr>
        <p:spPr>
          <a:xfrm>
            <a:off x="2370450" y="3305750"/>
            <a:ext cx="2046300" cy="14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Market &amp; Adoption :</a:t>
            </a:r>
            <a:r>
              <a:rPr lang="en" sz="1200">
                <a:solidFill>
                  <a:schemeClr val="dk2"/>
                </a:solidFill>
                <a:latin typeface="Heebo"/>
                <a:ea typeface="Heebo"/>
                <a:cs typeface="Heebo"/>
                <a:sym typeface="Heebo"/>
              </a:rPr>
              <a:t> Our biggest challenge is attracting issuers and investors to build liquidity. Success depends on strategic partnerships,and bridging traditional and digital finance.</a:t>
            </a:r>
            <a:endParaRPr sz="1200">
              <a:solidFill>
                <a:schemeClr val="dk2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89" name="Google Shape;289;p35"/>
          <p:cNvSpPr/>
          <p:nvPr/>
        </p:nvSpPr>
        <p:spPr>
          <a:xfrm>
            <a:off x="4725500" y="125870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90" name="Google Shape;290;p35"/>
          <p:cNvSpPr/>
          <p:nvPr/>
        </p:nvSpPr>
        <p:spPr>
          <a:xfrm>
            <a:off x="4933301" y="125870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91" name="Google Shape;291;p35"/>
          <p:cNvSpPr/>
          <p:nvPr/>
        </p:nvSpPr>
        <p:spPr>
          <a:xfrm>
            <a:off x="5141103" y="125870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92" name="Google Shape;292;p35"/>
          <p:cNvSpPr/>
          <p:nvPr/>
        </p:nvSpPr>
        <p:spPr>
          <a:xfrm>
            <a:off x="5348904" y="125870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93" name="Google Shape;293;p35"/>
          <p:cNvSpPr/>
          <p:nvPr/>
        </p:nvSpPr>
        <p:spPr>
          <a:xfrm>
            <a:off x="5556706" y="125870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94" name="Google Shape;294;p35"/>
          <p:cNvSpPr/>
          <p:nvPr/>
        </p:nvSpPr>
        <p:spPr>
          <a:xfrm>
            <a:off x="5764507" y="125870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95" name="Google Shape;295;p35"/>
          <p:cNvSpPr/>
          <p:nvPr/>
        </p:nvSpPr>
        <p:spPr>
          <a:xfrm>
            <a:off x="5972308" y="125870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96" name="Google Shape;296;p35"/>
          <p:cNvSpPr/>
          <p:nvPr/>
        </p:nvSpPr>
        <p:spPr>
          <a:xfrm>
            <a:off x="6180110" y="125870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97" name="Google Shape;297;p35"/>
          <p:cNvSpPr/>
          <p:nvPr/>
        </p:nvSpPr>
        <p:spPr>
          <a:xfrm>
            <a:off x="6387911" y="125870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98" name="Google Shape;298;p35"/>
          <p:cNvSpPr/>
          <p:nvPr/>
        </p:nvSpPr>
        <p:spPr>
          <a:xfrm>
            <a:off x="6595713" y="125870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99" name="Google Shape;299;p35"/>
          <p:cNvSpPr txBox="1"/>
          <p:nvPr/>
        </p:nvSpPr>
        <p:spPr>
          <a:xfrm>
            <a:off x="4728400" y="1862325"/>
            <a:ext cx="19983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>
                <a:solidFill>
                  <a:schemeClr val="dk2"/>
                </a:solidFill>
                <a:latin typeface="Bricolage Grotesque ExtraLight"/>
                <a:ea typeface="Bricolage Grotesque ExtraLight"/>
                <a:cs typeface="Bricolage Grotesque ExtraLight"/>
                <a:sym typeface="Bricolage Grotesque ExtraLight"/>
              </a:rPr>
              <a:t>30</a:t>
            </a:r>
            <a:r>
              <a:rPr lang="en" sz="5000">
                <a:solidFill>
                  <a:schemeClr val="dk2"/>
                </a:solidFill>
                <a:latin typeface="Bricolage Grotesque ExtraLight"/>
                <a:ea typeface="Bricolage Grotesque ExtraLight"/>
                <a:cs typeface="Bricolage Grotesque ExtraLight"/>
                <a:sym typeface="Bricolage Grotesque ExtraLight"/>
              </a:rPr>
              <a:t>%</a:t>
            </a:r>
            <a:endParaRPr sz="5000">
              <a:solidFill>
                <a:schemeClr val="dk2"/>
              </a:solidFill>
              <a:latin typeface="Bricolage Grotesque ExtraLight"/>
              <a:ea typeface="Bricolage Grotesque ExtraLight"/>
              <a:cs typeface="Bricolage Grotesque ExtraLight"/>
              <a:sym typeface="Bricolage Grotesque ExtraLight"/>
            </a:endParaRPr>
          </a:p>
        </p:txBody>
      </p:sp>
      <p:sp>
        <p:nvSpPr>
          <p:cNvPr id="300" name="Google Shape;300;p35"/>
          <p:cNvSpPr txBox="1"/>
          <p:nvPr/>
        </p:nvSpPr>
        <p:spPr>
          <a:xfrm>
            <a:off x="6868800" y="1258700"/>
            <a:ext cx="2046300" cy="14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Regulatory &amp; Compliance : </a:t>
            </a:r>
            <a:r>
              <a:rPr lang="en" sz="1200">
                <a:solidFill>
                  <a:schemeClr val="dk2"/>
                </a:solidFill>
                <a:latin typeface="Heebo"/>
                <a:ea typeface="Heebo"/>
                <a:cs typeface="Heebo"/>
                <a:sym typeface="Heebo"/>
              </a:rPr>
              <a:t>Evolving global securities and AML laws demand constant attention. We build flexible compliance systems and work with legal experts to ensure lawful operations across jurisdictions.</a:t>
            </a:r>
            <a:endParaRPr sz="1200">
              <a:solidFill>
                <a:schemeClr val="dk2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301" name="Google Shape;301;p35"/>
          <p:cNvSpPr/>
          <p:nvPr/>
        </p:nvSpPr>
        <p:spPr>
          <a:xfrm>
            <a:off x="4726950" y="330575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302" name="Google Shape;302;p35"/>
          <p:cNvSpPr/>
          <p:nvPr/>
        </p:nvSpPr>
        <p:spPr>
          <a:xfrm>
            <a:off x="4934751" y="330575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303" name="Google Shape;303;p35"/>
          <p:cNvSpPr/>
          <p:nvPr/>
        </p:nvSpPr>
        <p:spPr>
          <a:xfrm>
            <a:off x="5142553" y="330575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304" name="Google Shape;304;p35"/>
          <p:cNvSpPr/>
          <p:nvPr/>
        </p:nvSpPr>
        <p:spPr>
          <a:xfrm>
            <a:off x="5350354" y="330575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305" name="Google Shape;305;p35"/>
          <p:cNvSpPr/>
          <p:nvPr/>
        </p:nvSpPr>
        <p:spPr>
          <a:xfrm>
            <a:off x="5558156" y="330575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306" name="Google Shape;306;p35"/>
          <p:cNvSpPr/>
          <p:nvPr/>
        </p:nvSpPr>
        <p:spPr>
          <a:xfrm>
            <a:off x="5765957" y="330575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307" name="Google Shape;307;p35"/>
          <p:cNvSpPr/>
          <p:nvPr/>
        </p:nvSpPr>
        <p:spPr>
          <a:xfrm>
            <a:off x="5973758" y="330575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308" name="Google Shape;308;p35"/>
          <p:cNvSpPr/>
          <p:nvPr/>
        </p:nvSpPr>
        <p:spPr>
          <a:xfrm>
            <a:off x="6181560" y="330575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309" name="Google Shape;309;p35"/>
          <p:cNvSpPr/>
          <p:nvPr/>
        </p:nvSpPr>
        <p:spPr>
          <a:xfrm>
            <a:off x="6389361" y="330575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310" name="Google Shape;310;p35"/>
          <p:cNvSpPr/>
          <p:nvPr/>
        </p:nvSpPr>
        <p:spPr>
          <a:xfrm>
            <a:off x="6597163" y="330575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311" name="Google Shape;311;p35"/>
          <p:cNvSpPr txBox="1"/>
          <p:nvPr/>
        </p:nvSpPr>
        <p:spPr>
          <a:xfrm>
            <a:off x="4729850" y="3909375"/>
            <a:ext cx="19983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>
                <a:solidFill>
                  <a:schemeClr val="dk2"/>
                </a:solidFill>
                <a:latin typeface="Bricolage Grotesque ExtraLight"/>
                <a:ea typeface="Bricolage Grotesque ExtraLight"/>
                <a:cs typeface="Bricolage Grotesque ExtraLight"/>
                <a:sym typeface="Bricolage Grotesque ExtraLight"/>
              </a:rPr>
              <a:t>10</a:t>
            </a:r>
            <a:r>
              <a:rPr lang="en" sz="5000">
                <a:solidFill>
                  <a:schemeClr val="dk2"/>
                </a:solidFill>
                <a:latin typeface="Bricolage Grotesque ExtraLight"/>
                <a:ea typeface="Bricolage Grotesque ExtraLight"/>
                <a:cs typeface="Bricolage Grotesque ExtraLight"/>
                <a:sym typeface="Bricolage Grotesque ExtraLight"/>
              </a:rPr>
              <a:t>%</a:t>
            </a:r>
            <a:endParaRPr sz="5000">
              <a:solidFill>
                <a:schemeClr val="dk2"/>
              </a:solidFill>
              <a:latin typeface="Bricolage Grotesque ExtraLight"/>
              <a:ea typeface="Bricolage Grotesque ExtraLight"/>
              <a:cs typeface="Bricolage Grotesque ExtraLight"/>
              <a:sym typeface="Bricolage Grotesque ExtraLight"/>
            </a:endParaRPr>
          </a:p>
        </p:txBody>
      </p:sp>
      <p:sp>
        <p:nvSpPr>
          <p:cNvPr id="312" name="Google Shape;312;p35"/>
          <p:cNvSpPr txBox="1"/>
          <p:nvPr/>
        </p:nvSpPr>
        <p:spPr>
          <a:xfrm>
            <a:off x="6870250" y="3305750"/>
            <a:ext cx="2046300" cy="14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Technical Scalability : </a:t>
            </a:r>
            <a:r>
              <a:rPr lang="en" sz="1200">
                <a:solidFill>
                  <a:schemeClr val="dk2"/>
                </a:solidFill>
                <a:latin typeface="Heebo"/>
                <a:ea typeface="Heebo"/>
                <a:cs typeface="Heebo"/>
                <a:sym typeface="Heebo"/>
              </a:rPr>
              <a:t>Long-term growth requires planning for transaction volume and cost. We prioritize Layer 2 readiness and gas optimization, which are manageable with existing solutions.</a:t>
            </a:r>
            <a:endParaRPr sz="1200">
              <a:solidFill>
                <a:schemeClr val="dk2"/>
              </a:solidFill>
              <a:latin typeface="Heebo"/>
              <a:ea typeface="Heebo"/>
              <a:cs typeface="Heebo"/>
              <a:sym typeface="Heebo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36"/>
          <p:cNvSpPr txBox="1"/>
          <p:nvPr>
            <p:ph type="title"/>
          </p:nvPr>
        </p:nvSpPr>
        <p:spPr>
          <a:xfrm>
            <a:off x="345400" y="434600"/>
            <a:ext cx="3084900" cy="171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Summary</a:t>
            </a:r>
            <a:endParaRPr/>
          </a:p>
        </p:txBody>
      </p:sp>
      <p:sp>
        <p:nvSpPr>
          <p:cNvPr id="318" name="Google Shape;318;p36"/>
          <p:cNvSpPr txBox="1"/>
          <p:nvPr>
            <p:ph idx="2" type="subTitle"/>
          </p:nvPr>
        </p:nvSpPr>
        <p:spPr>
          <a:xfrm>
            <a:off x="3679278" y="434604"/>
            <a:ext cx="5147400" cy="62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Production-ready RWA tokenization solution for real estate, private credit, and funds</a:t>
            </a:r>
            <a:endParaRPr/>
          </a:p>
        </p:txBody>
      </p:sp>
      <p:sp>
        <p:nvSpPr>
          <p:cNvPr id="319" name="Google Shape;319;p36"/>
          <p:cNvSpPr txBox="1"/>
          <p:nvPr>
            <p:ph idx="1" type="subTitle"/>
          </p:nvPr>
        </p:nvSpPr>
        <p:spPr>
          <a:xfrm>
            <a:off x="3679275" y="1063404"/>
            <a:ext cx="5147400" cy="156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latin typeface="Bricolage Grotesque"/>
                <a:ea typeface="Bricolage Grotesque"/>
                <a:cs typeface="Bricolage Grotesque"/>
                <a:sym typeface="Bricolage Grotesque"/>
              </a:rPr>
              <a:t>Key Implementation: </a:t>
            </a:r>
            <a:endParaRPr b="1"/>
          </a:p>
          <a:p>
            <a:pPr indent="0" lvl="0" marL="0" rtl="0" algn="l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lang="en"/>
              <a:t>1. On-Chain Compliance: </a:t>
            </a:r>
            <a:r>
              <a:rPr lang="en"/>
              <a:t>Transfer restrictions, allowlist-only, jurisdiction encoding</a:t>
            </a:r>
            <a:endParaRPr/>
          </a:p>
          <a:p>
            <a:pPr indent="0" lvl="0" marL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2. Defense-in-Depth Security:</a:t>
            </a:r>
            <a:r>
              <a:rPr lang="en"/>
              <a:t> 3-of-5 multisig + 7-day upgrade timelock + MPC custody + $1M bug bounty</a:t>
            </a:r>
            <a:endParaRPr/>
          </a:p>
          <a:p>
            <a:pPr indent="0" lvl="0" marL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3. Hybrid Model:</a:t>
            </a:r>
            <a:r>
              <a:rPr lang="en"/>
              <a:t> Issuers (MPC custody) + Investors (self-custody) + USDC settlement</a:t>
            </a:r>
            <a:br>
              <a:rPr b="1" lang="en"/>
            </a:br>
            <a:endParaRPr/>
          </a:p>
        </p:txBody>
      </p:sp>
      <p:sp>
        <p:nvSpPr>
          <p:cNvPr id="320" name="Google Shape;320;p36"/>
          <p:cNvSpPr txBox="1"/>
          <p:nvPr>
            <p:ph idx="3" type="subTitle"/>
          </p:nvPr>
        </p:nvSpPr>
        <p:spPr>
          <a:xfrm>
            <a:off x="3679320" y="3214306"/>
            <a:ext cx="5147400" cy="108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✅ Regulatory Compliance: On-chain enforcement meets securities requirements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✅ Investor Protection: No PII on-chain + transparent operations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✅ Operational Security: No single point of failure + emergency controls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✅ Scalable Design: Gas-optimized + L2-ready + supports full asset lifecycle</a:t>
            </a:r>
            <a:endParaRPr/>
          </a:p>
        </p:txBody>
      </p:sp>
      <p:sp>
        <p:nvSpPr>
          <p:cNvPr id="321" name="Google Shape;321;p36"/>
          <p:cNvSpPr txBox="1"/>
          <p:nvPr>
            <p:ph idx="4" type="subTitle"/>
          </p:nvPr>
        </p:nvSpPr>
        <p:spPr>
          <a:xfrm>
            <a:off x="3679250" y="2733904"/>
            <a:ext cx="5147400" cy="546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It Works for RWA:</a:t>
            </a:r>
            <a:endParaRPr/>
          </a:p>
        </p:txBody>
      </p:sp>
      <p:pic>
        <p:nvPicPr>
          <p:cNvPr id="322" name="Google Shape;322;p36" title="652fbaf842b36f00013c4f33_Real-world Assets (RWA)-1600 900.png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0" l="19377" r="19377" t="0"/>
          <a:stretch/>
        </p:blipFill>
        <p:spPr>
          <a:xfrm>
            <a:off x="395775" y="2270650"/>
            <a:ext cx="2792700" cy="25650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37"/>
          <p:cNvSpPr txBox="1"/>
          <p:nvPr>
            <p:ph type="title"/>
          </p:nvPr>
        </p:nvSpPr>
        <p:spPr>
          <a:xfrm>
            <a:off x="1795875" y="384875"/>
            <a:ext cx="5933700" cy="252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0"/>
              <a:t>Queries ?</a:t>
            </a:r>
            <a:endParaRPr sz="5000"/>
          </a:p>
        </p:txBody>
      </p:sp>
      <p:sp>
        <p:nvSpPr>
          <p:cNvPr id="328" name="Google Shape;328;p37"/>
          <p:cNvSpPr/>
          <p:nvPr/>
        </p:nvSpPr>
        <p:spPr>
          <a:xfrm>
            <a:off x="7059663" y="4618924"/>
            <a:ext cx="343200" cy="343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71700" lIns="71700" spcFirstLastPara="1" rIns="71700" wrap="square" tIns="71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37"/>
          <p:cNvSpPr/>
          <p:nvPr/>
        </p:nvSpPr>
        <p:spPr>
          <a:xfrm>
            <a:off x="8071288" y="4618924"/>
            <a:ext cx="343200" cy="343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71700" lIns="71700" spcFirstLastPara="1" rIns="71700" wrap="square" tIns="71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37"/>
          <p:cNvSpPr/>
          <p:nvPr/>
        </p:nvSpPr>
        <p:spPr>
          <a:xfrm>
            <a:off x="7565475" y="4617924"/>
            <a:ext cx="343200" cy="343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71700" lIns="71700" spcFirstLastPara="1" rIns="71700" wrap="square" tIns="71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31" name="Google Shape;331;p37"/>
          <p:cNvGrpSpPr/>
          <p:nvPr/>
        </p:nvGrpSpPr>
        <p:grpSpPr>
          <a:xfrm>
            <a:off x="7128105" y="4681287"/>
            <a:ext cx="216482" cy="216461"/>
            <a:chOff x="3368074" y="3882537"/>
            <a:chExt cx="215298" cy="215298"/>
          </a:xfrm>
        </p:grpSpPr>
        <p:sp>
          <p:nvSpPr>
            <p:cNvPr id="332" name="Google Shape;332;p37"/>
            <p:cNvSpPr/>
            <p:nvPr/>
          </p:nvSpPr>
          <p:spPr>
            <a:xfrm>
              <a:off x="3368074" y="3882537"/>
              <a:ext cx="215298" cy="215298"/>
            </a:xfrm>
            <a:custGeom>
              <a:rect b="b" l="l" r="r" t="t"/>
              <a:pathLst>
                <a:path extrusionOk="0" h="6764" w="6764">
                  <a:moveTo>
                    <a:pt x="5335" y="346"/>
                  </a:moveTo>
                  <a:cubicBezTo>
                    <a:pt x="5930" y="346"/>
                    <a:pt x="6418" y="834"/>
                    <a:pt x="6418" y="1429"/>
                  </a:cubicBezTo>
                  <a:lnTo>
                    <a:pt x="6418" y="5335"/>
                  </a:lnTo>
                  <a:cubicBezTo>
                    <a:pt x="6418" y="5930"/>
                    <a:pt x="5930" y="6418"/>
                    <a:pt x="5335" y="6418"/>
                  </a:cubicBezTo>
                  <a:lnTo>
                    <a:pt x="1429" y="6418"/>
                  </a:lnTo>
                  <a:cubicBezTo>
                    <a:pt x="834" y="6418"/>
                    <a:pt x="346" y="5930"/>
                    <a:pt x="346" y="5335"/>
                  </a:cubicBezTo>
                  <a:lnTo>
                    <a:pt x="346" y="1429"/>
                  </a:lnTo>
                  <a:cubicBezTo>
                    <a:pt x="346" y="834"/>
                    <a:pt x="834" y="346"/>
                    <a:pt x="1429" y="346"/>
                  </a:cubicBezTo>
                  <a:close/>
                  <a:moveTo>
                    <a:pt x="1429" y="1"/>
                  </a:moveTo>
                  <a:cubicBezTo>
                    <a:pt x="644" y="1"/>
                    <a:pt x="1" y="644"/>
                    <a:pt x="1" y="1429"/>
                  </a:cubicBezTo>
                  <a:lnTo>
                    <a:pt x="1" y="5335"/>
                  </a:lnTo>
                  <a:cubicBezTo>
                    <a:pt x="1" y="6120"/>
                    <a:pt x="644" y="6763"/>
                    <a:pt x="1429" y="6763"/>
                  </a:cubicBezTo>
                  <a:lnTo>
                    <a:pt x="5335" y="6763"/>
                  </a:lnTo>
                  <a:cubicBezTo>
                    <a:pt x="6121" y="6763"/>
                    <a:pt x="6763" y="6120"/>
                    <a:pt x="6763" y="5335"/>
                  </a:cubicBezTo>
                  <a:lnTo>
                    <a:pt x="6763" y="1429"/>
                  </a:lnTo>
                  <a:cubicBezTo>
                    <a:pt x="6763" y="644"/>
                    <a:pt x="6121" y="1"/>
                    <a:pt x="53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71700" lIns="71700" spcFirstLastPara="1" rIns="71700" wrap="square" tIns="71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" name="Google Shape;333;p37"/>
            <p:cNvSpPr/>
            <p:nvPr/>
          </p:nvSpPr>
          <p:spPr>
            <a:xfrm>
              <a:off x="3418143" y="3933656"/>
              <a:ext cx="114811" cy="112742"/>
            </a:xfrm>
            <a:custGeom>
              <a:rect b="b" l="l" r="r" t="t"/>
              <a:pathLst>
                <a:path extrusionOk="0" h="3542" w="3607">
                  <a:moveTo>
                    <a:pt x="1822" y="0"/>
                  </a:moveTo>
                  <a:cubicBezTo>
                    <a:pt x="812" y="0"/>
                    <a:pt x="1" y="851"/>
                    <a:pt x="59" y="1859"/>
                  </a:cubicBezTo>
                  <a:cubicBezTo>
                    <a:pt x="95" y="2776"/>
                    <a:pt x="833" y="3502"/>
                    <a:pt x="1726" y="3538"/>
                  </a:cubicBezTo>
                  <a:cubicBezTo>
                    <a:pt x="1764" y="3541"/>
                    <a:pt x="1802" y="3542"/>
                    <a:pt x="1840" y="3542"/>
                  </a:cubicBezTo>
                  <a:cubicBezTo>
                    <a:pt x="2178" y="3542"/>
                    <a:pt x="2494" y="3447"/>
                    <a:pt x="2762" y="3276"/>
                  </a:cubicBezTo>
                  <a:cubicBezTo>
                    <a:pt x="2857" y="3217"/>
                    <a:pt x="2869" y="3086"/>
                    <a:pt x="2797" y="3014"/>
                  </a:cubicBezTo>
                  <a:cubicBezTo>
                    <a:pt x="2761" y="2978"/>
                    <a:pt x="2711" y="2964"/>
                    <a:pt x="2664" y="2964"/>
                  </a:cubicBezTo>
                  <a:cubicBezTo>
                    <a:pt x="2634" y="2964"/>
                    <a:pt x="2606" y="2969"/>
                    <a:pt x="2583" y="2979"/>
                  </a:cubicBezTo>
                  <a:cubicBezTo>
                    <a:pt x="2380" y="3096"/>
                    <a:pt x="2149" y="3185"/>
                    <a:pt x="1897" y="3185"/>
                  </a:cubicBezTo>
                  <a:cubicBezTo>
                    <a:pt x="1868" y="3185"/>
                    <a:pt x="1839" y="3183"/>
                    <a:pt x="1809" y="3181"/>
                  </a:cubicBezTo>
                  <a:cubicBezTo>
                    <a:pt x="1023" y="3169"/>
                    <a:pt x="380" y="2514"/>
                    <a:pt x="392" y="1716"/>
                  </a:cubicBezTo>
                  <a:cubicBezTo>
                    <a:pt x="426" y="948"/>
                    <a:pt x="1028" y="330"/>
                    <a:pt x="1792" y="330"/>
                  </a:cubicBezTo>
                  <a:cubicBezTo>
                    <a:pt x="1833" y="330"/>
                    <a:pt x="1874" y="332"/>
                    <a:pt x="1916" y="335"/>
                  </a:cubicBezTo>
                  <a:cubicBezTo>
                    <a:pt x="2619" y="371"/>
                    <a:pt x="3190" y="943"/>
                    <a:pt x="3250" y="1633"/>
                  </a:cubicBezTo>
                  <a:cubicBezTo>
                    <a:pt x="3285" y="1919"/>
                    <a:pt x="3214" y="2193"/>
                    <a:pt x="3095" y="2431"/>
                  </a:cubicBezTo>
                  <a:cubicBezTo>
                    <a:pt x="3059" y="2490"/>
                    <a:pt x="3059" y="2574"/>
                    <a:pt x="3119" y="2633"/>
                  </a:cubicBezTo>
                  <a:cubicBezTo>
                    <a:pt x="3149" y="2663"/>
                    <a:pt x="3191" y="2678"/>
                    <a:pt x="3234" y="2678"/>
                  </a:cubicBezTo>
                  <a:cubicBezTo>
                    <a:pt x="3295" y="2678"/>
                    <a:pt x="3358" y="2648"/>
                    <a:pt x="3393" y="2586"/>
                  </a:cubicBezTo>
                  <a:cubicBezTo>
                    <a:pt x="3536" y="2324"/>
                    <a:pt x="3607" y="2014"/>
                    <a:pt x="3583" y="1669"/>
                  </a:cubicBezTo>
                  <a:cubicBezTo>
                    <a:pt x="3536" y="764"/>
                    <a:pt x="2797" y="50"/>
                    <a:pt x="1904" y="2"/>
                  </a:cubicBezTo>
                  <a:cubicBezTo>
                    <a:pt x="1877" y="1"/>
                    <a:pt x="1849" y="0"/>
                    <a:pt x="18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71700" lIns="71700" spcFirstLastPara="1" rIns="71700" wrap="square" tIns="71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" name="Google Shape;334;p37"/>
            <p:cNvSpPr/>
            <p:nvPr/>
          </p:nvSpPr>
          <p:spPr>
            <a:xfrm>
              <a:off x="3519298" y="3910197"/>
              <a:ext cx="29570" cy="29220"/>
            </a:xfrm>
            <a:custGeom>
              <a:rect b="b" l="l" r="r" t="t"/>
              <a:pathLst>
                <a:path extrusionOk="0" h="918" w="929">
                  <a:moveTo>
                    <a:pt x="465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15"/>
                    <a:pt x="203" y="918"/>
                    <a:pt x="465" y="918"/>
                  </a:cubicBezTo>
                  <a:cubicBezTo>
                    <a:pt x="715" y="918"/>
                    <a:pt x="929" y="715"/>
                    <a:pt x="929" y="453"/>
                  </a:cubicBezTo>
                  <a:cubicBezTo>
                    <a:pt x="929" y="203"/>
                    <a:pt x="715" y="1"/>
                    <a:pt x="4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71700" lIns="71700" spcFirstLastPara="1" rIns="71700" wrap="square" tIns="71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35" name="Google Shape;335;p37"/>
          <p:cNvGrpSpPr/>
          <p:nvPr/>
        </p:nvGrpSpPr>
        <p:grpSpPr>
          <a:xfrm>
            <a:off x="8138297" y="4695960"/>
            <a:ext cx="209249" cy="187115"/>
            <a:chOff x="3824739" y="3890112"/>
            <a:chExt cx="208105" cy="186110"/>
          </a:xfrm>
        </p:grpSpPr>
        <p:sp>
          <p:nvSpPr>
            <p:cNvPr id="336" name="Google Shape;336;p37"/>
            <p:cNvSpPr/>
            <p:nvPr/>
          </p:nvSpPr>
          <p:spPr>
            <a:xfrm>
              <a:off x="3831933" y="3955682"/>
              <a:ext cx="47809" cy="120540"/>
            </a:xfrm>
            <a:custGeom>
              <a:rect b="b" l="l" r="r" t="t"/>
              <a:pathLst>
                <a:path extrusionOk="0" h="3787" w="1502">
                  <a:moveTo>
                    <a:pt x="1168" y="346"/>
                  </a:moveTo>
                  <a:lnTo>
                    <a:pt x="1168" y="3430"/>
                  </a:lnTo>
                  <a:lnTo>
                    <a:pt x="358" y="3430"/>
                  </a:lnTo>
                  <a:lnTo>
                    <a:pt x="358" y="346"/>
                  </a:lnTo>
                  <a:close/>
                  <a:moveTo>
                    <a:pt x="180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72" y="3787"/>
                    <a:pt x="180" y="3787"/>
                  </a:cubicBezTo>
                  <a:lnTo>
                    <a:pt x="1323" y="3787"/>
                  </a:lnTo>
                  <a:cubicBezTo>
                    <a:pt x="1418" y="3787"/>
                    <a:pt x="1501" y="3715"/>
                    <a:pt x="1501" y="3608"/>
                  </a:cubicBezTo>
                  <a:lnTo>
                    <a:pt x="1501" y="179"/>
                  </a:lnTo>
                  <a:cubicBezTo>
                    <a:pt x="1501" y="72"/>
                    <a:pt x="1430" y="1"/>
                    <a:pt x="132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71700" lIns="71700" spcFirstLastPara="1" rIns="71700" wrap="square" tIns="71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" name="Google Shape;337;p37"/>
            <p:cNvSpPr/>
            <p:nvPr/>
          </p:nvSpPr>
          <p:spPr>
            <a:xfrm>
              <a:off x="3824739" y="3890112"/>
              <a:ext cx="55002" cy="55002"/>
            </a:xfrm>
            <a:custGeom>
              <a:rect b="b" l="l" r="r" t="t"/>
              <a:pathLst>
                <a:path extrusionOk="0" h="1728" w="1728">
                  <a:moveTo>
                    <a:pt x="870" y="334"/>
                  </a:moveTo>
                  <a:cubicBezTo>
                    <a:pt x="1156" y="334"/>
                    <a:pt x="1394" y="572"/>
                    <a:pt x="1394" y="846"/>
                  </a:cubicBezTo>
                  <a:cubicBezTo>
                    <a:pt x="1394" y="1132"/>
                    <a:pt x="1156" y="1370"/>
                    <a:pt x="870" y="1370"/>
                  </a:cubicBezTo>
                  <a:cubicBezTo>
                    <a:pt x="584" y="1370"/>
                    <a:pt x="346" y="1132"/>
                    <a:pt x="346" y="846"/>
                  </a:cubicBezTo>
                  <a:cubicBezTo>
                    <a:pt x="346" y="572"/>
                    <a:pt x="584" y="334"/>
                    <a:pt x="870" y="334"/>
                  </a:cubicBezTo>
                  <a:close/>
                  <a:moveTo>
                    <a:pt x="870" y="1"/>
                  </a:moveTo>
                  <a:cubicBezTo>
                    <a:pt x="394" y="1"/>
                    <a:pt x="1" y="394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34"/>
                    <a:pt x="1727" y="870"/>
                  </a:cubicBezTo>
                  <a:cubicBezTo>
                    <a:pt x="1727" y="394"/>
                    <a:pt x="1346" y="1"/>
                    <a:pt x="8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71700" lIns="71700" spcFirstLastPara="1" rIns="71700" wrap="square" tIns="71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" name="Google Shape;338;p37"/>
            <p:cNvSpPr/>
            <p:nvPr/>
          </p:nvSpPr>
          <p:spPr>
            <a:xfrm>
              <a:off x="3904696" y="3955682"/>
              <a:ext cx="128148" cy="120540"/>
            </a:xfrm>
            <a:custGeom>
              <a:rect b="b" l="l" r="r" t="t"/>
              <a:pathLst>
                <a:path extrusionOk="0" h="3787" w="4026">
                  <a:moveTo>
                    <a:pt x="191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84" y="3787"/>
                    <a:pt x="191" y="3787"/>
                  </a:cubicBezTo>
                  <a:lnTo>
                    <a:pt x="1334" y="3787"/>
                  </a:lnTo>
                  <a:cubicBezTo>
                    <a:pt x="1418" y="3787"/>
                    <a:pt x="1513" y="3715"/>
                    <a:pt x="1513" y="3608"/>
                  </a:cubicBezTo>
                  <a:lnTo>
                    <a:pt x="1513" y="2382"/>
                  </a:lnTo>
                  <a:cubicBezTo>
                    <a:pt x="1513" y="1977"/>
                    <a:pt x="1596" y="1501"/>
                    <a:pt x="2037" y="1501"/>
                  </a:cubicBezTo>
                  <a:cubicBezTo>
                    <a:pt x="2347" y="1501"/>
                    <a:pt x="2477" y="1763"/>
                    <a:pt x="2525" y="2060"/>
                  </a:cubicBezTo>
                  <a:cubicBezTo>
                    <a:pt x="2537" y="2156"/>
                    <a:pt x="2608" y="2215"/>
                    <a:pt x="2692" y="2215"/>
                  </a:cubicBezTo>
                  <a:cubicBezTo>
                    <a:pt x="2787" y="2215"/>
                    <a:pt x="2870" y="2120"/>
                    <a:pt x="2847" y="2025"/>
                  </a:cubicBezTo>
                  <a:cubicBezTo>
                    <a:pt x="2763" y="1465"/>
                    <a:pt x="2477" y="1155"/>
                    <a:pt x="2013" y="1155"/>
                  </a:cubicBezTo>
                  <a:cubicBezTo>
                    <a:pt x="1465" y="1155"/>
                    <a:pt x="1156" y="1608"/>
                    <a:pt x="1156" y="2382"/>
                  </a:cubicBezTo>
                  <a:lnTo>
                    <a:pt x="1156" y="3430"/>
                  </a:lnTo>
                  <a:lnTo>
                    <a:pt x="346" y="3430"/>
                  </a:lnTo>
                  <a:lnTo>
                    <a:pt x="346" y="358"/>
                  </a:lnTo>
                  <a:lnTo>
                    <a:pt x="918" y="358"/>
                  </a:lnTo>
                  <a:lnTo>
                    <a:pt x="918" y="572"/>
                  </a:lnTo>
                  <a:cubicBezTo>
                    <a:pt x="918" y="632"/>
                    <a:pt x="930" y="679"/>
                    <a:pt x="977" y="715"/>
                  </a:cubicBezTo>
                  <a:cubicBezTo>
                    <a:pt x="1007" y="733"/>
                    <a:pt x="1043" y="742"/>
                    <a:pt x="1078" y="742"/>
                  </a:cubicBezTo>
                  <a:cubicBezTo>
                    <a:pt x="1114" y="742"/>
                    <a:pt x="1150" y="733"/>
                    <a:pt x="1180" y="715"/>
                  </a:cubicBezTo>
                  <a:cubicBezTo>
                    <a:pt x="1477" y="477"/>
                    <a:pt x="1835" y="358"/>
                    <a:pt x="2227" y="358"/>
                  </a:cubicBezTo>
                  <a:cubicBezTo>
                    <a:pt x="3204" y="358"/>
                    <a:pt x="3656" y="1191"/>
                    <a:pt x="3656" y="2001"/>
                  </a:cubicBezTo>
                  <a:lnTo>
                    <a:pt x="3656" y="3430"/>
                  </a:lnTo>
                  <a:lnTo>
                    <a:pt x="2847" y="3430"/>
                  </a:lnTo>
                  <a:lnTo>
                    <a:pt x="2847" y="2870"/>
                  </a:lnTo>
                  <a:cubicBezTo>
                    <a:pt x="2847" y="2775"/>
                    <a:pt x="2775" y="2703"/>
                    <a:pt x="2692" y="2703"/>
                  </a:cubicBezTo>
                  <a:cubicBezTo>
                    <a:pt x="2597" y="2703"/>
                    <a:pt x="2525" y="2775"/>
                    <a:pt x="2525" y="2870"/>
                  </a:cubicBezTo>
                  <a:lnTo>
                    <a:pt x="2525" y="3596"/>
                  </a:lnTo>
                  <a:cubicBezTo>
                    <a:pt x="2525" y="3691"/>
                    <a:pt x="2597" y="3775"/>
                    <a:pt x="2704" y="3775"/>
                  </a:cubicBezTo>
                  <a:lnTo>
                    <a:pt x="3847" y="3775"/>
                  </a:lnTo>
                  <a:cubicBezTo>
                    <a:pt x="3942" y="3775"/>
                    <a:pt x="4025" y="3703"/>
                    <a:pt x="4025" y="3596"/>
                  </a:cubicBezTo>
                  <a:lnTo>
                    <a:pt x="4025" y="1989"/>
                  </a:lnTo>
                  <a:cubicBezTo>
                    <a:pt x="4025" y="810"/>
                    <a:pt x="3299" y="1"/>
                    <a:pt x="2239" y="1"/>
                  </a:cubicBezTo>
                  <a:cubicBezTo>
                    <a:pt x="1894" y="1"/>
                    <a:pt x="1573" y="84"/>
                    <a:pt x="1275" y="251"/>
                  </a:cubicBezTo>
                  <a:lnTo>
                    <a:pt x="1275" y="179"/>
                  </a:lnTo>
                  <a:cubicBezTo>
                    <a:pt x="1275" y="84"/>
                    <a:pt x="1204" y="1"/>
                    <a:pt x="109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71700" lIns="71700" spcFirstLastPara="1" rIns="71700" wrap="square" tIns="71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39" name="Google Shape;339;p37"/>
          <p:cNvSpPr/>
          <p:nvPr/>
        </p:nvSpPr>
        <p:spPr>
          <a:xfrm>
            <a:off x="7658914" y="4708699"/>
            <a:ext cx="155839" cy="159260"/>
          </a:xfrm>
          <a:custGeom>
            <a:rect b="b" l="l" r="r" t="t"/>
            <a:pathLst>
              <a:path extrusionOk="0" h="505587" w="494728">
                <a:moveTo>
                  <a:pt x="294418" y="214122"/>
                </a:moveTo>
                <a:lnTo>
                  <a:pt x="478631" y="0"/>
                </a:lnTo>
                <a:lnTo>
                  <a:pt x="435007" y="0"/>
                </a:lnTo>
                <a:lnTo>
                  <a:pt x="275082" y="185928"/>
                </a:lnTo>
                <a:lnTo>
                  <a:pt x="147352" y="0"/>
                </a:lnTo>
                <a:lnTo>
                  <a:pt x="0" y="0"/>
                </a:lnTo>
                <a:lnTo>
                  <a:pt x="193167" y="281083"/>
                </a:lnTo>
                <a:lnTo>
                  <a:pt x="0" y="505587"/>
                </a:lnTo>
                <a:lnTo>
                  <a:pt x="43625" y="505587"/>
                </a:lnTo>
                <a:lnTo>
                  <a:pt x="212503" y="309277"/>
                </a:lnTo>
                <a:lnTo>
                  <a:pt x="347377" y="505587"/>
                </a:lnTo>
                <a:lnTo>
                  <a:pt x="494729" y="505587"/>
                </a:lnTo>
                <a:lnTo>
                  <a:pt x="294418" y="214027"/>
                </a:lnTo>
                <a:lnTo>
                  <a:pt x="294418" y="214027"/>
                </a:lnTo>
                <a:close/>
                <a:moveTo>
                  <a:pt x="234601" y="283655"/>
                </a:moveTo>
                <a:lnTo>
                  <a:pt x="215075" y="255651"/>
                </a:lnTo>
                <a:lnTo>
                  <a:pt x="59341" y="32861"/>
                </a:lnTo>
                <a:lnTo>
                  <a:pt x="126397" y="32861"/>
                </a:lnTo>
                <a:lnTo>
                  <a:pt x="252032" y="212598"/>
                </a:lnTo>
                <a:lnTo>
                  <a:pt x="271558" y="240601"/>
                </a:lnTo>
                <a:lnTo>
                  <a:pt x="434912" y="474250"/>
                </a:lnTo>
                <a:lnTo>
                  <a:pt x="367855" y="474250"/>
                </a:lnTo>
                <a:lnTo>
                  <a:pt x="234505" y="283559"/>
                </a:lnTo>
                <a:lnTo>
                  <a:pt x="234505" y="28355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35825" lIns="71700" spcFirstLastPara="1" rIns="71700" wrap="square" tIns="358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11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40" name="Google Shape;340;p37" title="656efcb6445d47000166f39e_BRC-20 Tokens-1600 900.png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29086" l="0" r="0" t="29086"/>
          <a:stretch/>
        </p:blipFill>
        <p:spPr>
          <a:xfrm>
            <a:off x="228450" y="2962650"/>
            <a:ext cx="8687100" cy="20439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"/>
          <p:cNvSpPr txBox="1"/>
          <p:nvPr>
            <p:ph type="title"/>
          </p:nvPr>
        </p:nvSpPr>
        <p:spPr>
          <a:xfrm>
            <a:off x="726600" y="2717700"/>
            <a:ext cx="7690800" cy="1717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0"/>
              <a:t>Thank You</a:t>
            </a:r>
            <a:r>
              <a:rPr lang="en" sz="10000"/>
              <a:t> !</a:t>
            </a:r>
            <a:endParaRPr sz="5000"/>
          </a:p>
        </p:txBody>
      </p:sp>
      <p:sp>
        <p:nvSpPr>
          <p:cNvPr id="346" name="Google Shape;346;p38"/>
          <p:cNvSpPr/>
          <p:nvPr/>
        </p:nvSpPr>
        <p:spPr>
          <a:xfrm>
            <a:off x="7059663" y="4618924"/>
            <a:ext cx="343200" cy="343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71700" lIns="71700" spcFirstLastPara="1" rIns="71700" wrap="square" tIns="71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" name="Google Shape;347;p38"/>
          <p:cNvSpPr/>
          <p:nvPr/>
        </p:nvSpPr>
        <p:spPr>
          <a:xfrm>
            <a:off x="8071288" y="4618924"/>
            <a:ext cx="343200" cy="343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71700" lIns="71700" spcFirstLastPara="1" rIns="71700" wrap="square" tIns="71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38"/>
          <p:cNvSpPr/>
          <p:nvPr/>
        </p:nvSpPr>
        <p:spPr>
          <a:xfrm>
            <a:off x="7565475" y="4617924"/>
            <a:ext cx="343200" cy="343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71700" lIns="71700" spcFirstLastPara="1" rIns="71700" wrap="square" tIns="71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49" name="Google Shape;349;p38"/>
          <p:cNvGrpSpPr/>
          <p:nvPr/>
        </p:nvGrpSpPr>
        <p:grpSpPr>
          <a:xfrm>
            <a:off x="7128105" y="4681287"/>
            <a:ext cx="216482" cy="216461"/>
            <a:chOff x="3368074" y="3882537"/>
            <a:chExt cx="215298" cy="215298"/>
          </a:xfrm>
        </p:grpSpPr>
        <p:sp>
          <p:nvSpPr>
            <p:cNvPr id="350" name="Google Shape;350;p38"/>
            <p:cNvSpPr/>
            <p:nvPr/>
          </p:nvSpPr>
          <p:spPr>
            <a:xfrm>
              <a:off x="3368074" y="3882537"/>
              <a:ext cx="215298" cy="215298"/>
            </a:xfrm>
            <a:custGeom>
              <a:rect b="b" l="l" r="r" t="t"/>
              <a:pathLst>
                <a:path extrusionOk="0" h="6764" w="6764">
                  <a:moveTo>
                    <a:pt x="5335" y="346"/>
                  </a:moveTo>
                  <a:cubicBezTo>
                    <a:pt x="5930" y="346"/>
                    <a:pt x="6418" y="834"/>
                    <a:pt x="6418" y="1429"/>
                  </a:cubicBezTo>
                  <a:lnTo>
                    <a:pt x="6418" y="5335"/>
                  </a:lnTo>
                  <a:cubicBezTo>
                    <a:pt x="6418" y="5930"/>
                    <a:pt x="5930" y="6418"/>
                    <a:pt x="5335" y="6418"/>
                  </a:cubicBezTo>
                  <a:lnTo>
                    <a:pt x="1429" y="6418"/>
                  </a:lnTo>
                  <a:cubicBezTo>
                    <a:pt x="834" y="6418"/>
                    <a:pt x="346" y="5930"/>
                    <a:pt x="346" y="5335"/>
                  </a:cubicBezTo>
                  <a:lnTo>
                    <a:pt x="346" y="1429"/>
                  </a:lnTo>
                  <a:cubicBezTo>
                    <a:pt x="346" y="834"/>
                    <a:pt x="834" y="346"/>
                    <a:pt x="1429" y="346"/>
                  </a:cubicBezTo>
                  <a:close/>
                  <a:moveTo>
                    <a:pt x="1429" y="1"/>
                  </a:moveTo>
                  <a:cubicBezTo>
                    <a:pt x="644" y="1"/>
                    <a:pt x="1" y="644"/>
                    <a:pt x="1" y="1429"/>
                  </a:cubicBezTo>
                  <a:lnTo>
                    <a:pt x="1" y="5335"/>
                  </a:lnTo>
                  <a:cubicBezTo>
                    <a:pt x="1" y="6120"/>
                    <a:pt x="644" y="6763"/>
                    <a:pt x="1429" y="6763"/>
                  </a:cubicBezTo>
                  <a:lnTo>
                    <a:pt x="5335" y="6763"/>
                  </a:lnTo>
                  <a:cubicBezTo>
                    <a:pt x="6121" y="6763"/>
                    <a:pt x="6763" y="6120"/>
                    <a:pt x="6763" y="5335"/>
                  </a:cubicBezTo>
                  <a:lnTo>
                    <a:pt x="6763" y="1429"/>
                  </a:lnTo>
                  <a:cubicBezTo>
                    <a:pt x="6763" y="644"/>
                    <a:pt x="6121" y="1"/>
                    <a:pt x="53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71700" lIns="71700" spcFirstLastPara="1" rIns="71700" wrap="square" tIns="71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1" name="Google Shape;351;p38"/>
            <p:cNvSpPr/>
            <p:nvPr/>
          </p:nvSpPr>
          <p:spPr>
            <a:xfrm>
              <a:off x="3418143" y="3933656"/>
              <a:ext cx="114811" cy="112742"/>
            </a:xfrm>
            <a:custGeom>
              <a:rect b="b" l="l" r="r" t="t"/>
              <a:pathLst>
                <a:path extrusionOk="0" h="3542" w="3607">
                  <a:moveTo>
                    <a:pt x="1822" y="0"/>
                  </a:moveTo>
                  <a:cubicBezTo>
                    <a:pt x="812" y="0"/>
                    <a:pt x="1" y="851"/>
                    <a:pt x="59" y="1859"/>
                  </a:cubicBezTo>
                  <a:cubicBezTo>
                    <a:pt x="95" y="2776"/>
                    <a:pt x="833" y="3502"/>
                    <a:pt x="1726" y="3538"/>
                  </a:cubicBezTo>
                  <a:cubicBezTo>
                    <a:pt x="1764" y="3541"/>
                    <a:pt x="1802" y="3542"/>
                    <a:pt x="1840" y="3542"/>
                  </a:cubicBezTo>
                  <a:cubicBezTo>
                    <a:pt x="2178" y="3542"/>
                    <a:pt x="2494" y="3447"/>
                    <a:pt x="2762" y="3276"/>
                  </a:cubicBezTo>
                  <a:cubicBezTo>
                    <a:pt x="2857" y="3217"/>
                    <a:pt x="2869" y="3086"/>
                    <a:pt x="2797" y="3014"/>
                  </a:cubicBezTo>
                  <a:cubicBezTo>
                    <a:pt x="2761" y="2978"/>
                    <a:pt x="2711" y="2964"/>
                    <a:pt x="2664" y="2964"/>
                  </a:cubicBezTo>
                  <a:cubicBezTo>
                    <a:pt x="2634" y="2964"/>
                    <a:pt x="2606" y="2969"/>
                    <a:pt x="2583" y="2979"/>
                  </a:cubicBezTo>
                  <a:cubicBezTo>
                    <a:pt x="2380" y="3096"/>
                    <a:pt x="2149" y="3185"/>
                    <a:pt x="1897" y="3185"/>
                  </a:cubicBezTo>
                  <a:cubicBezTo>
                    <a:pt x="1868" y="3185"/>
                    <a:pt x="1839" y="3183"/>
                    <a:pt x="1809" y="3181"/>
                  </a:cubicBezTo>
                  <a:cubicBezTo>
                    <a:pt x="1023" y="3169"/>
                    <a:pt x="380" y="2514"/>
                    <a:pt x="392" y="1716"/>
                  </a:cubicBezTo>
                  <a:cubicBezTo>
                    <a:pt x="426" y="948"/>
                    <a:pt x="1028" y="330"/>
                    <a:pt x="1792" y="330"/>
                  </a:cubicBezTo>
                  <a:cubicBezTo>
                    <a:pt x="1833" y="330"/>
                    <a:pt x="1874" y="332"/>
                    <a:pt x="1916" y="335"/>
                  </a:cubicBezTo>
                  <a:cubicBezTo>
                    <a:pt x="2619" y="371"/>
                    <a:pt x="3190" y="943"/>
                    <a:pt x="3250" y="1633"/>
                  </a:cubicBezTo>
                  <a:cubicBezTo>
                    <a:pt x="3285" y="1919"/>
                    <a:pt x="3214" y="2193"/>
                    <a:pt x="3095" y="2431"/>
                  </a:cubicBezTo>
                  <a:cubicBezTo>
                    <a:pt x="3059" y="2490"/>
                    <a:pt x="3059" y="2574"/>
                    <a:pt x="3119" y="2633"/>
                  </a:cubicBezTo>
                  <a:cubicBezTo>
                    <a:pt x="3149" y="2663"/>
                    <a:pt x="3191" y="2678"/>
                    <a:pt x="3234" y="2678"/>
                  </a:cubicBezTo>
                  <a:cubicBezTo>
                    <a:pt x="3295" y="2678"/>
                    <a:pt x="3358" y="2648"/>
                    <a:pt x="3393" y="2586"/>
                  </a:cubicBezTo>
                  <a:cubicBezTo>
                    <a:pt x="3536" y="2324"/>
                    <a:pt x="3607" y="2014"/>
                    <a:pt x="3583" y="1669"/>
                  </a:cubicBezTo>
                  <a:cubicBezTo>
                    <a:pt x="3536" y="764"/>
                    <a:pt x="2797" y="50"/>
                    <a:pt x="1904" y="2"/>
                  </a:cubicBezTo>
                  <a:cubicBezTo>
                    <a:pt x="1877" y="1"/>
                    <a:pt x="1849" y="0"/>
                    <a:pt x="18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71700" lIns="71700" spcFirstLastPara="1" rIns="71700" wrap="square" tIns="71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2" name="Google Shape;352;p38"/>
            <p:cNvSpPr/>
            <p:nvPr/>
          </p:nvSpPr>
          <p:spPr>
            <a:xfrm>
              <a:off x="3519298" y="3910197"/>
              <a:ext cx="29570" cy="29220"/>
            </a:xfrm>
            <a:custGeom>
              <a:rect b="b" l="l" r="r" t="t"/>
              <a:pathLst>
                <a:path extrusionOk="0" h="918" w="929">
                  <a:moveTo>
                    <a:pt x="465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15"/>
                    <a:pt x="203" y="918"/>
                    <a:pt x="465" y="918"/>
                  </a:cubicBezTo>
                  <a:cubicBezTo>
                    <a:pt x="715" y="918"/>
                    <a:pt x="929" y="715"/>
                    <a:pt x="929" y="453"/>
                  </a:cubicBezTo>
                  <a:cubicBezTo>
                    <a:pt x="929" y="203"/>
                    <a:pt x="715" y="1"/>
                    <a:pt x="4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71700" lIns="71700" spcFirstLastPara="1" rIns="71700" wrap="square" tIns="71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53" name="Google Shape;353;p38"/>
          <p:cNvGrpSpPr/>
          <p:nvPr/>
        </p:nvGrpSpPr>
        <p:grpSpPr>
          <a:xfrm>
            <a:off x="8138297" y="4695960"/>
            <a:ext cx="209249" cy="187115"/>
            <a:chOff x="3824739" y="3890112"/>
            <a:chExt cx="208105" cy="186110"/>
          </a:xfrm>
        </p:grpSpPr>
        <p:sp>
          <p:nvSpPr>
            <p:cNvPr id="354" name="Google Shape;354;p38"/>
            <p:cNvSpPr/>
            <p:nvPr/>
          </p:nvSpPr>
          <p:spPr>
            <a:xfrm>
              <a:off x="3831933" y="3955682"/>
              <a:ext cx="47809" cy="120540"/>
            </a:xfrm>
            <a:custGeom>
              <a:rect b="b" l="l" r="r" t="t"/>
              <a:pathLst>
                <a:path extrusionOk="0" h="3787" w="1502">
                  <a:moveTo>
                    <a:pt x="1168" y="346"/>
                  </a:moveTo>
                  <a:lnTo>
                    <a:pt x="1168" y="3430"/>
                  </a:lnTo>
                  <a:lnTo>
                    <a:pt x="358" y="3430"/>
                  </a:lnTo>
                  <a:lnTo>
                    <a:pt x="358" y="346"/>
                  </a:lnTo>
                  <a:close/>
                  <a:moveTo>
                    <a:pt x="180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72" y="3787"/>
                    <a:pt x="180" y="3787"/>
                  </a:cubicBezTo>
                  <a:lnTo>
                    <a:pt x="1323" y="3787"/>
                  </a:lnTo>
                  <a:cubicBezTo>
                    <a:pt x="1418" y="3787"/>
                    <a:pt x="1501" y="3715"/>
                    <a:pt x="1501" y="3608"/>
                  </a:cubicBezTo>
                  <a:lnTo>
                    <a:pt x="1501" y="179"/>
                  </a:lnTo>
                  <a:cubicBezTo>
                    <a:pt x="1501" y="72"/>
                    <a:pt x="1430" y="1"/>
                    <a:pt x="132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71700" lIns="71700" spcFirstLastPara="1" rIns="71700" wrap="square" tIns="71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" name="Google Shape;355;p38"/>
            <p:cNvSpPr/>
            <p:nvPr/>
          </p:nvSpPr>
          <p:spPr>
            <a:xfrm>
              <a:off x="3824739" y="3890112"/>
              <a:ext cx="55002" cy="55002"/>
            </a:xfrm>
            <a:custGeom>
              <a:rect b="b" l="l" r="r" t="t"/>
              <a:pathLst>
                <a:path extrusionOk="0" h="1728" w="1728">
                  <a:moveTo>
                    <a:pt x="870" y="334"/>
                  </a:moveTo>
                  <a:cubicBezTo>
                    <a:pt x="1156" y="334"/>
                    <a:pt x="1394" y="572"/>
                    <a:pt x="1394" y="846"/>
                  </a:cubicBezTo>
                  <a:cubicBezTo>
                    <a:pt x="1394" y="1132"/>
                    <a:pt x="1156" y="1370"/>
                    <a:pt x="870" y="1370"/>
                  </a:cubicBezTo>
                  <a:cubicBezTo>
                    <a:pt x="584" y="1370"/>
                    <a:pt x="346" y="1132"/>
                    <a:pt x="346" y="846"/>
                  </a:cubicBezTo>
                  <a:cubicBezTo>
                    <a:pt x="346" y="572"/>
                    <a:pt x="584" y="334"/>
                    <a:pt x="870" y="334"/>
                  </a:cubicBezTo>
                  <a:close/>
                  <a:moveTo>
                    <a:pt x="870" y="1"/>
                  </a:moveTo>
                  <a:cubicBezTo>
                    <a:pt x="394" y="1"/>
                    <a:pt x="1" y="394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34"/>
                    <a:pt x="1727" y="870"/>
                  </a:cubicBezTo>
                  <a:cubicBezTo>
                    <a:pt x="1727" y="394"/>
                    <a:pt x="1346" y="1"/>
                    <a:pt x="8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71700" lIns="71700" spcFirstLastPara="1" rIns="71700" wrap="square" tIns="71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" name="Google Shape;356;p38"/>
            <p:cNvSpPr/>
            <p:nvPr/>
          </p:nvSpPr>
          <p:spPr>
            <a:xfrm>
              <a:off x="3904696" y="3955682"/>
              <a:ext cx="128148" cy="120540"/>
            </a:xfrm>
            <a:custGeom>
              <a:rect b="b" l="l" r="r" t="t"/>
              <a:pathLst>
                <a:path extrusionOk="0" h="3787" w="4026">
                  <a:moveTo>
                    <a:pt x="191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84" y="3787"/>
                    <a:pt x="191" y="3787"/>
                  </a:cubicBezTo>
                  <a:lnTo>
                    <a:pt x="1334" y="3787"/>
                  </a:lnTo>
                  <a:cubicBezTo>
                    <a:pt x="1418" y="3787"/>
                    <a:pt x="1513" y="3715"/>
                    <a:pt x="1513" y="3608"/>
                  </a:cubicBezTo>
                  <a:lnTo>
                    <a:pt x="1513" y="2382"/>
                  </a:lnTo>
                  <a:cubicBezTo>
                    <a:pt x="1513" y="1977"/>
                    <a:pt x="1596" y="1501"/>
                    <a:pt x="2037" y="1501"/>
                  </a:cubicBezTo>
                  <a:cubicBezTo>
                    <a:pt x="2347" y="1501"/>
                    <a:pt x="2477" y="1763"/>
                    <a:pt x="2525" y="2060"/>
                  </a:cubicBezTo>
                  <a:cubicBezTo>
                    <a:pt x="2537" y="2156"/>
                    <a:pt x="2608" y="2215"/>
                    <a:pt x="2692" y="2215"/>
                  </a:cubicBezTo>
                  <a:cubicBezTo>
                    <a:pt x="2787" y="2215"/>
                    <a:pt x="2870" y="2120"/>
                    <a:pt x="2847" y="2025"/>
                  </a:cubicBezTo>
                  <a:cubicBezTo>
                    <a:pt x="2763" y="1465"/>
                    <a:pt x="2477" y="1155"/>
                    <a:pt x="2013" y="1155"/>
                  </a:cubicBezTo>
                  <a:cubicBezTo>
                    <a:pt x="1465" y="1155"/>
                    <a:pt x="1156" y="1608"/>
                    <a:pt x="1156" y="2382"/>
                  </a:cubicBezTo>
                  <a:lnTo>
                    <a:pt x="1156" y="3430"/>
                  </a:lnTo>
                  <a:lnTo>
                    <a:pt x="346" y="3430"/>
                  </a:lnTo>
                  <a:lnTo>
                    <a:pt x="346" y="358"/>
                  </a:lnTo>
                  <a:lnTo>
                    <a:pt x="918" y="358"/>
                  </a:lnTo>
                  <a:lnTo>
                    <a:pt x="918" y="572"/>
                  </a:lnTo>
                  <a:cubicBezTo>
                    <a:pt x="918" y="632"/>
                    <a:pt x="930" y="679"/>
                    <a:pt x="977" y="715"/>
                  </a:cubicBezTo>
                  <a:cubicBezTo>
                    <a:pt x="1007" y="733"/>
                    <a:pt x="1043" y="742"/>
                    <a:pt x="1078" y="742"/>
                  </a:cubicBezTo>
                  <a:cubicBezTo>
                    <a:pt x="1114" y="742"/>
                    <a:pt x="1150" y="733"/>
                    <a:pt x="1180" y="715"/>
                  </a:cubicBezTo>
                  <a:cubicBezTo>
                    <a:pt x="1477" y="477"/>
                    <a:pt x="1835" y="358"/>
                    <a:pt x="2227" y="358"/>
                  </a:cubicBezTo>
                  <a:cubicBezTo>
                    <a:pt x="3204" y="358"/>
                    <a:pt x="3656" y="1191"/>
                    <a:pt x="3656" y="2001"/>
                  </a:cubicBezTo>
                  <a:lnTo>
                    <a:pt x="3656" y="3430"/>
                  </a:lnTo>
                  <a:lnTo>
                    <a:pt x="2847" y="3430"/>
                  </a:lnTo>
                  <a:lnTo>
                    <a:pt x="2847" y="2870"/>
                  </a:lnTo>
                  <a:cubicBezTo>
                    <a:pt x="2847" y="2775"/>
                    <a:pt x="2775" y="2703"/>
                    <a:pt x="2692" y="2703"/>
                  </a:cubicBezTo>
                  <a:cubicBezTo>
                    <a:pt x="2597" y="2703"/>
                    <a:pt x="2525" y="2775"/>
                    <a:pt x="2525" y="2870"/>
                  </a:cubicBezTo>
                  <a:lnTo>
                    <a:pt x="2525" y="3596"/>
                  </a:lnTo>
                  <a:cubicBezTo>
                    <a:pt x="2525" y="3691"/>
                    <a:pt x="2597" y="3775"/>
                    <a:pt x="2704" y="3775"/>
                  </a:cubicBezTo>
                  <a:lnTo>
                    <a:pt x="3847" y="3775"/>
                  </a:lnTo>
                  <a:cubicBezTo>
                    <a:pt x="3942" y="3775"/>
                    <a:pt x="4025" y="3703"/>
                    <a:pt x="4025" y="3596"/>
                  </a:cubicBezTo>
                  <a:lnTo>
                    <a:pt x="4025" y="1989"/>
                  </a:lnTo>
                  <a:cubicBezTo>
                    <a:pt x="4025" y="810"/>
                    <a:pt x="3299" y="1"/>
                    <a:pt x="2239" y="1"/>
                  </a:cubicBezTo>
                  <a:cubicBezTo>
                    <a:pt x="1894" y="1"/>
                    <a:pt x="1573" y="84"/>
                    <a:pt x="1275" y="251"/>
                  </a:cubicBezTo>
                  <a:lnTo>
                    <a:pt x="1275" y="179"/>
                  </a:lnTo>
                  <a:cubicBezTo>
                    <a:pt x="1275" y="84"/>
                    <a:pt x="1204" y="1"/>
                    <a:pt x="109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71700" lIns="71700" spcFirstLastPara="1" rIns="71700" wrap="square" tIns="71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57" name="Google Shape;357;p38"/>
          <p:cNvSpPr/>
          <p:nvPr/>
        </p:nvSpPr>
        <p:spPr>
          <a:xfrm>
            <a:off x="7658914" y="4708699"/>
            <a:ext cx="155839" cy="159260"/>
          </a:xfrm>
          <a:custGeom>
            <a:rect b="b" l="l" r="r" t="t"/>
            <a:pathLst>
              <a:path extrusionOk="0" h="505587" w="494728">
                <a:moveTo>
                  <a:pt x="294418" y="214122"/>
                </a:moveTo>
                <a:lnTo>
                  <a:pt x="478631" y="0"/>
                </a:lnTo>
                <a:lnTo>
                  <a:pt x="435007" y="0"/>
                </a:lnTo>
                <a:lnTo>
                  <a:pt x="275082" y="185928"/>
                </a:lnTo>
                <a:lnTo>
                  <a:pt x="147352" y="0"/>
                </a:lnTo>
                <a:lnTo>
                  <a:pt x="0" y="0"/>
                </a:lnTo>
                <a:lnTo>
                  <a:pt x="193167" y="281083"/>
                </a:lnTo>
                <a:lnTo>
                  <a:pt x="0" y="505587"/>
                </a:lnTo>
                <a:lnTo>
                  <a:pt x="43625" y="505587"/>
                </a:lnTo>
                <a:lnTo>
                  <a:pt x="212503" y="309277"/>
                </a:lnTo>
                <a:lnTo>
                  <a:pt x="347377" y="505587"/>
                </a:lnTo>
                <a:lnTo>
                  <a:pt x="494729" y="505587"/>
                </a:lnTo>
                <a:lnTo>
                  <a:pt x="294418" y="214027"/>
                </a:lnTo>
                <a:lnTo>
                  <a:pt x="294418" y="214027"/>
                </a:lnTo>
                <a:close/>
                <a:moveTo>
                  <a:pt x="234601" y="283655"/>
                </a:moveTo>
                <a:lnTo>
                  <a:pt x="215075" y="255651"/>
                </a:lnTo>
                <a:lnTo>
                  <a:pt x="59341" y="32861"/>
                </a:lnTo>
                <a:lnTo>
                  <a:pt x="126397" y="32861"/>
                </a:lnTo>
                <a:lnTo>
                  <a:pt x="252032" y="212598"/>
                </a:lnTo>
                <a:lnTo>
                  <a:pt x="271558" y="240601"/>
                </a:lnTo>
                <a:lnTo>
                  <a:pt x="434912" y="474250"/>
                </a:lnTo>
                <a:lnTo>
                  <a:pt x="367855" y="474250"/>
                </a:lnTo>
                <a:lnTo>
                  <a:pt x="234505" y="283559"/>
                </a:lnTo>
                <a:lnTo>
                  <a:pt x="234505" y="28355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35825" lIns="71700" spcFirstLastPara="1" rIns="71700" wrap="square" tIns="358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11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58" name="Google Shape;358;p38" title="65e9997df9978e0001e85481_1600-900-Bridging-the-Gap-An-In-Depth-Guide-to-Blockchain-Bridges (1).png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29086" l="0" r="0" t="29086"/>
          <a:stretch/>
        </p:blipFill>
        <p:spPr>
          <a:xfrm>
            <a:off x="228450" y="400000"/>
            <a:ext cx="8687100" cy="20439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roject roadmaps by Slidesgo">
  <a:themeElements>
    <a:clrScheme name="Simple Light">
      <a:dk1>
        <a:srgbClr val="161616"/>
      </a:dk1>
      <a:lt1>
        <a:srgbClr val="F0F0F0"/>
      </a:lt1>
      <a:dk2>
        <a:srgbClr val="161616"/>
      </a:dk2>
      <a:lt2>
        <a:srgbClr val="C2C2C2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61616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