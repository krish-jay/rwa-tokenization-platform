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</p:sldIdLst>
  <p:sldSz cy="5143500" cx="9144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Afacad Flux"/>
      <p:regular r:id="rId25"/>
      <p:bold r:id="rId26"/>
    </p:embeddedFont>
    <p:embeddedFont>
      <p:font typeface="Heebo"/>
      <p:regular r:id="rId27"/>
      <p:bold r:id="rId28"/>
    </p:embeddedFont>
    <p:embeddedFont>
      <p:font typeface="Bricolage Grotesque ExtraLight"/>
      <p:regular r:id="rId29"/>
      <p:bold r:id="rId30"/>
    </p:embeddedFont>
    <p:embeddedFont>
      <p:font typeface="Anaheim"/>
      <p:regular r:id="rId31"/>
      <p:bold r:id="rId32"/>
    </p:embeddedFont>
    <p:embeddedFont>
      <p:font typeface="Bricolage Grotesque"/>
      <p:regular r:id="rId33"/>
      <p:bold r:id="rId34"/>
    </p:embeddedFont>
    <p:embeddedFont>
      <p:font typeface="Bricolage Grotesque Medium"/>
      <p:regular r:id="rId35"/>
      <p:bold r:id="rId36"/>
    </p:embeddedFont>
    <p:embeddedFont>
      <p:font typeface="Open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boldItalic.fntdata"/><Relationship Id="rId20" Type="http://schemas.openxmlformats.org/officeDocument/2006/relationships/slide" Target="slides/slide16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facadFlux-bold.fntdata"/><Relationship Id="rId25" Type="http://schemas.openxmlformats.org/officeDocument/2006/relationships/font" Target="fonts/AfacadFlux-regular.fntdata"/><Relationship Id="rId28" Type="http://schemas.openxmlformats.org/officeDocument/2006/relationships/font" Target="fonts/Heebo-bold.fntdata"/><Relationship Id="rId27" Type="http://schemas.openxmlformats.org/officeDocument/2006/relationships/font" Target="fonts/Heeb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ricolageGrotesqueExtraLigh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naheim-regular.fntdata"/><Relationship Id="rId30" Type="http://schemas.openxmlformats.org/officeDocument/2006/relationships/font" Target="fonts/BricolageGrotesqueExtraLight-bold.fntdata"/><Relationship Id="rId11" Type="http://schemas.openxmlformats.org/officeDocument/2006/relationships/slide" Target="slides/slide7.xml"/><Relationship Id="rId33" Type="http://schemas.openxmlformats.org/officeDocument/2006/relationships/font" Target="fonts/BricolageGrotesque-regular.fntdata"/><Relationship Id="rId10" Type="http://schemas.openxmlformats.org/officeDocument/2006/relationships/slide" Target="slides/slide6.xml"/><Relationship Id="rId32" Type="http://schemas.openxmlformats.org/officeDocument/2006/relationships/font" Target="fonts/Anaheim-bold.fntdata"/><Relationship Id="rId13" Type="http://schemas.openxmlformats.org/officeDocument/2006/relationships/slide" Target="slides/slide9.xml"/><Relationship Id="rId35" Type="http://schemas.openxmlformats.org/officeDocument/2006/relationships/font" Target="fonts/BricolageGrotesqueMedium-regular.fntdata"/><Relationship Id="rId12" Type="http://schemas.openxmlformats.org/officeDocument/2006/relationships/slide" Target="slides/slide8.xml"/><Relationship Id="rId34" Type="http://schemas.openxmlformats.org/officeDocument/2006/relationships/font" Target="fonts/BricolageGrotesque-bold.fntdata"/><Relationship Id="rId15" Type="http://schemas.openxmlformats.org/officeDocument/2006/relationships/slide" Target="slides/slide11.xml"/><Relationship Id="rId37" Type="http://schemas.openxmlformats.org/officeDocument/2006/relationships/font" Target="fonts/OpenSans-regular.fntdata"/><Relationship Id="rId14" Type="http://schemas.openxmlformats.org/officeDocument/2006/relationships/slide" Target="slides/slide10.xml"/><Relationship Id="rId36" Type="http://schemas.openxmlformats.org/officeDocument/2006/relationships/font" Target="fonts/BricolageGrotesqueMedium-bold.fntdata"/><Relationship Id="rId17" Type="http://schemas.openxmlformats.org/officeDocument/2006/relationships/slide" Target="slides/slide13.xml"/><Relationship Id="rId39" Type="http://schemas.openxmlformats.org/officeDocument/2006/relationships/font" Target="fonts/OpenSans-italic.fntdata"/><Relationship Id="rId16" Type="http://schemas.openxmlformats.org/officeDocument/2006/relationships/slide" Target="slides/slide12.xml"/><Relationship Id="rId38" Type="http://schemas.openxmlformats.org/officeDocument/2006/relationships/font" Target="fonts/OpenSans-bold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431007ba2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431007ba2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200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54dda1946d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54dda1946d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bad692356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bad692356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bad692356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bad692356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97af2fcc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997af2fcc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8d636df1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8d636df1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b8d636df11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b8d636df11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d5260bdd85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d5260bdd85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ad692356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ad692356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tBDfr" TargetMode="Externa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228600" y="2854200"/>
            <a:ext cx="72864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572000" y="1143439"/>
            <a:ext cx="1323600" cy="11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Heebo"/>
              <a:buNone/>
              <a:defRPr sz="1600">
                <a:latin typeface="Heebo"/>
                <a:ea typeface="Heebo"/>
                <a:cs typeface="Heebo"/>
                <a:sym typeface="Heeb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Heebo"/>
              <a:buNone/>
              <a:defRPr sz="1800"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228600" y="3336550"/>
            <a:ext cx="65229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" name="Google Shape;13;p3"/>
          <p:cNvSpPr txBox="1"/>
          <p:nvPr>
            <p:ph hasCustomPrompt="1" idx="2" type="title"/>
          </p:nvPr>
        </p:nvSpPr>
        <p:spPr>
          <a:xfrm>
            <a:off x="6751500" y="827594"/>
            <a:ext cx="1652100" cy="1211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b="0" sz="8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228600" y="2286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228600" y="999327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228750" y="228600"/>
            <a:ext cx="2591700" cy="232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subTitle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0" name="Google Shape;20;p5"/>
          <p:cNvSpPr txBox="1"/>
          <p:nvPr>
            <p:ph idx="2" type="subTitle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21" name="Google Shape;21;p5"/>
          <p:cNvSpPr txBox="1"/>
          <p:nvPr>
            <p:ph idx="3" type="subTitle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aleway"/>
              <a:buNone/>
              <a:defRPr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22" name="Google Shape;22;p5"/>
          <p:cNvSpPr txBox="1"/>
          <p:nvPr>
            <p:ph idx="4" type="subTitle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228600" y="4148475"/>
            <a:ext cx="4835100" cy="766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720000" y="445019"/>
            <a:ext cx="4763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subTitle"/>
          </p:nvPr>
        </p:nvSpPr>
        <p:spPr>
          <a:xfrm>
            <a:off x="713225" y="1790975"/>
            <a:ext cx="4294800" cy="19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Open Sans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/>
          <p:nvPr>
            <p:ph type="title"/>
          </p:nvPr>
        </p:nvSpPr>
        <p:spPr>
          <a:xfrm>
            <a:off x="1768550" y="1307100"/>
            <a:ext cx="56070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9"/>
          <p:cNvSpPr txBox="1"/>
          <p:nvPr>
            <p:ph type="title"/>
          </p:nvPr>
        </p:nvSpPr>
        <p:spPr>
          <a:xfrm>
            <a:off x="2135550" y="1441675"/>
            <a:ext cx="4872900" cy="118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" type="subTitle"/>
          </p:nvPr>
        </p:nvSpPr>
        <p:spPr>
          <a:xfrm>
            <a:off x="2135550" y="2784625"/>
            <a:ext cx="4872900" cy="67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/>
          <p:nvPr>
            <p:ph type="title"/>
          </p:nvPr>
        </p:nvSpPr>
        <p:spPr>
          <a:xfrm>
            <a:off x="228600" y="228600"/>
            <a:ext cx="3594000" cy="9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hasCustomPrompt="1" idx="2" type="title"/>
          </p:nvPr>
        </p:nvSpPr>
        <p:spPr>
          <a:xfrm>
            <a:off x="228719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/>
          <p:nvPr>
            <p:ph idx="1" type="subTitle"/>
          </p:nvPr>
        </p:nvSpPr>
        <p:spPr>
          <a:xfrm>
            <a:off x="228600" y="1157700"/>
            <a:ext cx="3594000" cy="8052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11"/>
          <p:cNvSpPr txBox="1"/>
          <p:nvPr>
            <p:ph hasCustomPrompt="1" idx="3" type="title"/>
          </p:nvPr>
        </p:nvSpPr>
        <p:spPr>
          <a:xfrm>
            <a:off x="6515091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1" name="Google Shape;41;p11"/>
          <p:cNvSpPr txBox="1"/>
          <p:nvPr>
            <p:ph hasCustomPrompt="1" idx="4" type="title"/>
          </p:nvPr>
        </p:nvSpPr>
        <p:spPr>
          <a:xfrm>
            <a:off x="3371760" y="29528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2" name="Google Shape;42;p11"/>
          <p:cNvSpPr txBox="1"/>
          <p:nvPr>
            <p:ph idx="5" type="subTitle"/>
          </p:nvPr>
        </p:nvSpPr>
        <p:spPr>
          <a:xfrm>
            <a:off x="22860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6" type="subTitle"/>
          </p:nvPr>
        </p:nvSpPr>
        <p:spPr>
          <a:xfrm>
            <a:off x="6514972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7" type="subTitle"/>
          </p:nvPr>
        </p:nvSpPr>
        <p:spPr>
          <a:xfrm>
            <a:off x="3371640" y="41553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hasCustomPrompt="1" idx="8" type="title"/>
          </p:nvPr>
        </p:nvSpPr>
        <p:spPr>
          <a:xfrm>
            <a:off x="6515091" y="228600"/>
            <a:ext cx="2400600" cy="131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None/>
              <a:defRPr b="0" sz="9500">
                <a:solidFill>
                  <a:schemeClr val="dk2"/>
                </a:solidFill>
                <a:latin typeface="Bricolage Grotesque Medium"/>
                <a:ea typeface="Bricolage Grotesque Medium"/>
                <a:cs typeface="Bricolage Grotesque Medium"/>
                <a:sym typeface="Bricolage Grotesqu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Bricolage Grotesque"/>
              <a:buNone/>
              <a:defRPr sz="60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9" type="subTitle"/>
          </p:nvPr>
        </p:nvSpPr>
        <p:spPr>
          <a:xfrm>
            <a:off x="6514972" y="1431100"/>
            <a:ext cx="2400600" cy="7599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hasCustomPrompt="1" idx="2" type="title"/>
          </p:nvPr>
        </p:nvSpPr>
        <p:spPr>
          <a:xfrm>
            <a:off x="1588833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subTitle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3" type="title"/>
          </p:nvPr>
        </p:nvSpPr>
        <p:spPr>
          <a:xfrm>
            <a:off x="228592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idx="4" type="subTitle"/>
          </p:nvPr>
        </p:nvSpPr>
        <p:spPr>
          <a:xfrm>
            <a:off x="228598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hasCustomPrompt="1" idx="5" type="title"/>
          </p:nvPr>
        </p:nvSpPr>
        <p:spPr>
          <a:xfrm>
            <a:off x="3898029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idx="6" type="subTitle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6" name="Google Shape;56;p13"/>
          <p:cNvSpPr txBox="1"/>
          <p:nvPr>
            <p:ph hasCustomPrompt="1" idx="7" type="title"/>
          </p:nvPr>
        </p:nvSpPr>
        <p:spPr>
          <a:xfrm>
            <a:off x="6207225" y="228602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idx="8" type="subTitle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8" name="Google Shape;58;p13"/>
          <p:cNvSpPr txBox="1"/>
          <p:nvPr>
            <p:ph hasCustomPrompt="1" idx="9" type="title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idx="13" type="subTitle"/>
          </p:nvPr>
        </p:nvSpPr>
        <p:spPr>
          <a:xfrm>
            <a:off x="2537802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hasCustomPrompt="1" idx="14" type="title"/>
          </p:nvPr>
        </p:nvSpPr>
        <p:spPr>
          <a:xfrm>
            <a:off x="4847000" y="1493565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5" type="subTitle"/>
          </p:nvPr>
        </p:nvSpPr>
        <p:spPr>
          <a:xfrm>
            <a:off x="4847000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hasCustomPrompt="1" idx="16" type="title"/>
          </p:nvPr>
        </p:nvSpPr>
        <p:spPr>
          <a:xfrm>
            <a:off x="3898017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/>
          <p:nvPr>
            <p:ph idx="17" type="subTitle"/>
          </p:nvPr>
        </p:nvSpPr>
        <p:spPr>
          <a:xfrm>
            <a:off x="3898023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hasCustomPrompt="1" idx="18" type="title"/>
          </p:nvPr>
        </p:nvSpPr>
        <p:spPr>
          <a:xfrm>
            <a:off x="6671900" y="2758524"/>
            <a:ext cx="542700" cy="3381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1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/>
          <p:nvPr>
            <p:ph idx="19" type="subTitle"/>
          </p:nvPr>
        </p:nvSpPr>
        <p:spPr>
          <a:xfrm>
            <a:off x="6671900" y="30030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b="1" sz="24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4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4517000" y="228600"/>
            <a:ext cx="3078300" cy="320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ONE_COLUMN_TEXT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1" name="Google Shape;71;p15"/>
          <p:cNvSpPr/>
          <p:nvPr>
            <p:ph idx="2" type="pic"/>
          </p:nvPr>
        </p:nvSpPr>
        <p:spPr>
          <a:xfrm>
            <a:off x="228600" y="2871425"/>
            <a:ext cx="8687100" cy="20439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5"/>
          <p:cNvSpPr txBox="1"/>
          <p:nvPr>
            <p:ph idx="1" type="subTitle"/>
          </p:nvPr>
        </p:nvSpPr>
        <p:spPr>
          <a:xfrm>
            <a:off x="3995400" y="228600"/>
            <a:ext cx="4920300" cy="2205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" type="subTitle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2" type="subTitle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3" type="subTitle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hasCustomPrompt="1" idx="4" type="title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Bricolage Grotesque"/>
              <a:buNone/>
              <a:defRPr sz="30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79" name="Google Shape;79;p16"/>
          <p:cNvSpPr txBox="1"/>
          <p:nvPr>
            <p:ph hasCustomPrompt="1" idx="5" type="title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Font typeface="Bricolage Grotesque"/>
              <a:buNone/>
              <a:defRPr sz="9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0" name="Google Shape;80;p16"/>
          <p:cNvSpPr txBox="1"/>
          <p:nvPr>
            <p:ph hasCustomPrompt="1" idx="6" type="title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 sz="5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Font typeface="Bricolage Grotesque"/>
              <a:buNone/>
              <a:defRPr sz="62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1" name="Google Shape;81;p16"/>
          <p:cNvSpPr txBox="1"/>
          <p:nvPr>
            <p:ph idx="7" type="subTitle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8" type="subTitle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3" name="Google Shape;83;p16"/>
          <p:cNvSpPr txBox="1"/>
          <p:nvPr>
            <p:ph idx="9" type="subTitle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228600" y="1159200"/>
            <a:ext cx="3248700" cy="28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5061325" y="647121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7" name="Google Shape;87;p17"/>
          <p:cNvSpPr txBox="1"/>
          <p:nvPr>
            <p:ph idx="2" type="subTitle"/>
          </p:nvPr>
        </p:nvSpPr>
        <p:spPr>
          <a:xfrm>
            <a:off x="5061325" y="228675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88" name="Google Shape;88;p17"/>
          <p:cNvSpPr txBox="1"/>
          <p:nvPr>
            <p:ph hasCustomPrompt="1" idx="3" type="title"/>
          </p:nvPr>
        </p:nvSpPr>
        <p:spPr>
          <a:xfrm>
            <a:off x="4500325" y="228595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89" name="Google Shape;89;p17"/>
          <p:cNvSpPr txBox="1"/>
          <p:nvPr>
            <p:ph idx="4" type="subTitle"/>
          </p:nvPr>
        </p:nvSpPr>
        <p:spPr>
          <a:xfrm>
            <a:off x="5061325" y="1871014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0" name="Google Shape;90;p17"/>
          <p:cNvSpPr txBox="1"/>
          <p:nvPr>
            <p:ph idx="5" type="subTitle"/>
          </p:nvPr>
        </p:nvSpPr>
        <p:spPr>
          <a:xfrm>
            <a:off x="5061325" y="1452568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1" name="Google Shape;91;p17"/>
          <p:cNvSpPr txBox="1"/>
          <p:nvPr>
            <p:ph hasCustomPrompt="1" idx="6" type="title"/>
          </p:nvPr>
        </p:nvSpPr>
        <p:spPr>
          <a:xfrm>
            <a:off x="4500325" y="1452487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2" name="Google Shape;92;p17"/>
          <p:cNvSpPr txBox="1"/>
          <p:nvPr>
            <p:ph idx="7" type="subTitle"/>
          </p:nvPr>
        </p:nvSpPr>
        <p:spPr>
          <a:xfrm>
            <a:off x="5061325" y="3094907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8" type="subTitle"/>
          </p:nvPr>
        </p:nvSpPr>
        <p:spPr>
          <a:xfrm>
            <a:off x="5061325" y="2676461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4" name="Google Shape;94;p17"/>
          <p:cNvSpPr txBox="1"/>
          <p:nvPr>
            <p:ph hasCustomPrompt="1" idx="9" type="title"/>
          </p:nvPr>
        </p:nvSpPr>
        <p:spPr>
          <a:xfrm>
            <a:off x="4500325" y="2676378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  <p:sp>
        <p:nvSpPr>
          <p:cNvPr id="95" name="Google Shape;95;p17"/>
          <p:cNvSpPr txBox="1"/>
          <p:nvPr>
            <p:ph idx="13" type="subTitle"/>
          </p:nvPr>
        </p:nvSpPr>
        <p:spPr>
          <a:xfrm>
            <a:off x="5061325" y="4318799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" name="Google Shape;96;p17"/>
          <p:cNvSpPr txBox="1"/>
          <p:nvPr>
            <p:ph idx="14" type="subTitle"/>
          </p:nvPr>
        </p:nvSpPr>
        <p:spPr>
          <a:xfrm>
            <a:off x="5061325" y="3900353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Bricolage Grotesque"/>
              <a:buNone/>
              <a:defRPr b="1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/>
        </p:txBody>
      </p:sp>
      <p:sp>
        <p:nvSpPr>
          <p:cNvPr id="97" name="Google Shape;97;p17"/>
          <p:cNvSpPr txBox="1"/>
          <p:nvPr>
            <p:ph hasCustomPrompt="1" idx="15" type="title"/>
          </p:nvPr>
        </p:nvSpPr>
        <p:spPr>
          <a:xfrm>
            <a:off x="4500325" y="3900270"/>
            <a:ext cx="561000" cy="4845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Bricolage Grotesque"/>
              <a:buNone/>
              <a:defRPr sz="1600">
                <a:latin typeface="Bricolage Grotesque"/>
                <a:ea typeface="Bricolage Grotesque"/>
                <a:cs typeface="Bricolage Grotesque"/>
                <a:sym typeface="Bricolage Grotesqu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500"/>
              <a:buNone/>
              <a:defRPr sz="3800"/>
            </a:lvl1pPr>
            <a:lvl2pPr lvl="1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054850" y="3056150"/>
            <a:ext cx="5860500" cy="183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500"/>
              <a:buNone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" type="subTitle"/>
          </p:nvPr>
        </p:nvSpPr>
        <p:spPr>
          <a:xfrm>
            <a:off x="4425843" y="228611"/>
            <a:ext cx="2490900" cy="105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/>
        </p:nvSpPr>
        <p:spPr>
          <a:xfrm>
            <a:off x="228600" y="2803984"/>
            <a:ext cx="2572200" cy="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CREDITS: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This presentation template was created by </a:t>
            </a:r>
            <a:r>
              <a:rPr b="1" lang="en" sz="1000" u="sng">
                <a:solidFill>
                  <a:schemeClr val="hlink"/>
                </a:solidFill>
                <a:latin typeface="Heebo"/>
                <a:ea typeface="Heebo"/>
                <a:cs typeface="Heebo"/>
                <a:sym typeface="Heebo"/>
                <a:hlinkClick r:id="rId2"/>
              </a:rPr>
              <a:t>Slidesgo</a:t>
            </a:r>
            <a:r>
              <a:rPr lang="en" sz="10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, and includes icons, infographics &amp; images by </a:t>
            </a:r>
            <a:r>
              <a:rPr b="1"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 </a:t>
            </a:r>
            <a:endParaRPr b="1" sz="1000" u="sng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8600" y="228600"/>
            <a:ext cx="8686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Bricolage Grotesque"/>
              <a:buNone/>
              <a:defRPr b="1" sz="45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facad Flux"/>
              <a:buNone/>
              <a:defRPr b="1" sz="4500">
                <a:solidFill>
                  <a:schemeClr val="dk1"/>
                </a:solidFill>
                <a:latin typeface="Afacad Flux"/>
                <a:ea typeface="Afacad Flux"/>
                <a:cs typeface="Afacad Flux"/>
                <a:sym typeface="Afacad Flux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8600" y="936050"/>
            <a:ext cx="8686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●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○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ebo"/>
              <a:buChar char="■"/>
              <a:defRPr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transition spd="med">
    <p:push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ctrTitle"/>
          </p:nvPr>
        </p:nvSpPr>
        <p:spPr>
          <a:xfrm>
            <a:off x="324700" y="2892700"/>
            <a:ext cx="8153700" cy="206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Real-World Assets</a:t>
            </a:r>
            <a:r>
              <a:rPr lang="en" sz="3000"/>
              <a:t> </a:t>
            </a:r>
            <a:r>
              <a:rPr lang="en" sz="10000"/>
              <a:t>Tokenization</a:t>
            </a:r>
            <a:endParaRPr sz="10000"/>
          </a:p>
        </p:txBody>
      </p:sp>
      <p:sp>
        <p:nvSpPr>
          <p:cNvPr id="111" name="Google Shape;111;p22"/>
          <p:cNvSpPr txBox="1"/>
          <p:nvPr>
            <p:ph idx="1" type="subTitle"/>
          </p:nvPr>
        </p:nvSpPr>
        <p:spPr>
          <a:xfrm>
            <a:off x="5844900" y="735450"/>
            <a:ext cx="2943000" cy="75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RWA Tokenization Platform</a:t>
            </a:r>
            <a:br>
              <a:rPr lang="en"/>
            </a:br>
            <a:r>
              <a:rPr lang="en"/>
              <a:t>Secure, Compliant, Production-Ready Architecture for Real-World Assets</a:t>
            </a:r>
            <a:endParaRPr/>
          </a:p>
        </p:txBody>
      </p:sp>
      <p:pic>
        <p:nvPicPr>
          <p:cNvPr id="112" name="Google Shape;112;p22" title="652fbaf842b36f00013c4f33_Real-world Assets (RWA)-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7864" l="0" r="0" t="18969"/>
          <a:stretch/>
        </p:blipFill>
        <p:spPr>
          <a:xfrm>
            <a:off x="228450" y="137600"/>
            <a:ext cx="8687100" cy="2598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228600" y="3322775"/>
            <a:ext cx="3429000" cy="159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</a:t>
            </a:r>
            <a:r>
              <a:rPr lang="en"/>
              <a:t>able of contents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subTitle"/>
          </p:nvPr>
        </p:nvSpPr>
        <p:spPr>
          <a:xfrm>
            <a:off x="1562777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</a:t>
            </a:r>
            <a:r>
              <a:rPr lang="en"/>
              <a:t>overview</a:t>
            </a:r>
            <a:endParaRPr/>
          </a:p>
        </p:txBody>
      </p:sp>
      <p:sp>
        <p:nvSpPr>
          <p:cNvPr id="119" name="Google Shape;119;p23"/>
          <p:cNvSpPr txBox="1"/>
          <p:nvPr>
            <p:ph idx="2" type="title"/>
          </p:nvPr>
        </p:nvSpPr>
        <p:spPr>
          <a:xfrm>
            <a:off x="1588833" y="228602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0" name="Google Shape;120;p23"/>
          <p:cNvSpPr txBox="1"/>
          <p:nvPr>
            <p:ph idx="3" type="title"/>
          </p:nvPr>
        </p:nvSpPr>
        <p:spPr>
          <a:xfrm>
            <a:off x="522314" y="1533140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21" name="Google Shape;121;p23"/>
          <p:cNvSpPr txBox="1"/>
          <p:nvPr>
            <p:ph idx="4" type="subTitle"/>
          </p:nvPr>
        </p:nvSpPr>
        <p:spPr>
          <a:xfrm>
            <a:off x="522320" y="17776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 Design</a:t>
            </a:r>
            <a:endParaRPr/>
          </a:p>
        </p:txBody>
      </p:sp>
      <p:sp>
        <p:nvSpPr>
          <p:cNvPr id="122" name="Google Shape;122;p23"/>
          <p:cNvSpPr txBox="1"/>
          <p:nvPr>
            <p:ph idx="5" type="title"/>
          </p:nvPr>
        </p:nvSpPr>
        <p:spPr>
          <a:xfrm>
            <a:off x="3898029" y="228602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3" name="Google Shape;123;p23"/>
          <p:cNvSpPr txBox="1"/>
          <p:nvPr>
            <p:ph idx="6" type="subTitle"/>
          </p:nvPr>
        </p:nvSpPr>
        <p:spPr>
          <a:xfrm>
            <a:off x="38980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Situation</a:t>
            </a:r>
            <a:endParaRPr/>
          </a:p>
        </p:txBody>
      </p:sp>
      <p:sp>
        <p:nvSpPr>
          <p:cNvPr id="124" name="Google Shape;124;p23"/>
          <p:cNvSpPr txBox="1"/>
          <p:nvPr>
            <p:ph idx="7" type="title"/>
          </p:nvPr>
        </p:nvSpPr>
        <p:spPr>
          <a:xfrm>
            <a:off x="6207225" y="228602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5" name="Google Shape;125;p23"/>
          <p:cNvSpPr txBox="1"/>
          <p:nvPr>
            <p:ph idx="8" type="subTitle"/>
          </p:nvPr>
        </p:nvSpPr>
        <p:spPr>
          <a:xfrm>
            <a:off x="6207225" y="47307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&amp; Mission</a:t>
            </a:r>
            <a:endParaRPr/>
          </a:p>
        </p:txBody>
      </p:sp>
      <p:sp>
        <p:nvSpPr>
          <p:cNvPr id="126" name="Google Shape;126;p23"/>
          <p:cNvSpPr txBox="1"/>
          <p:nvPr>
            <p:ph idx="9" type="title"/>
          </p:nvPr>
        </p:nvSpPr>
        <p:spPr>
          <a:xfrm>
            <a:off x="2537808" y="1493565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27" name="Google Shape;127;p23"/>
          <p:cNvSpPr txBox="1"/>
          <p:nvPr>
            <p:ph idx="13" type="subTitle"/>
          </p:nvPr>
        </p:nvSpPr>
        <p:spPr>
          <a:xfrm>
            <a:off x="2537800" y="1738025"/>
            <a:ext cx="19029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Contract Design</a:t>
            </a:r>
            <a:endParaRPr/>
          </a:p>
        </p:txBody>
      </p:sp>
      <p:sp>
        <p:nvSpPr>
          <p:cNvPr id="128" name="Google Shape;128;p23"/>
          <p:cNvSpPr txBox="1"/>
          <p:nvPr>
            <p:ph idx="14" type="title"/>
          </p:nvPr>
        </p:nvSpPr>
        <p:spPr>
          <a:xfrm>
            <a:off x="5062700" y="1493565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29" name="Google Shape;129;p23"/>
          <p:cNvSpPr txBox="1"/>
          <p:nvPr>
            <p:ph idx="15" type="subTitle"/>
          </p:nvPr>
        </p:nvSpPr>
        <p:spPr>
          <a:xfrm>
            <a:off x="5062700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Compliance Model</a:t>
            </a:r>
            <a:endParaRPr/>
          </a:p>
        </p:txBody>
      </p:sp>
      <p:sp>
        <p:nvSpPr>
          <p:cNvPr id="130" name="Google Shape;130;p23"/>
          <p:cNvSpPr txBox="1"/>
          <p:nvPr>
            <p:ph idx="16" type="title"/>
          </p:nvPr>
        </p:nvSpPr>
        <p:spPr>
          <a:xfrm>
            <a:off x="3294642" y="2744624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131" name="Google Shape;131;p23"/>
          <p:cNvSpPr txBox="1"/>
          <p:nvPr>
            <p:ph idx="17" type="subTitle"/>
          </p:nvPr>
        </p:nvSpPr>
        <p:spPr>
          <a:xfrm>
            <a:off x="3294648" y="29891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Security Framework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23"/>
          <p:cNvSpPr txBox="1"/>
          <p:nvPr>
            <p:ph idx="18" type="title"/>
          </p:nvPr>
        </p:nvSpPr>
        <p:spPr>
          <a:xfrm>
            <a:off x="5250025" y="2744612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133" name="Google Shape;133;p23"/>
          <p:cNvSpPr txBox="1"/>
          <p:nvPr>
            <p:ph idx="19" type="subTitle"/>
          </p:nvPr>
        </p:nvSpPr>
        <p:spPr>
          <a:xfrm>
            <a:off x="5250025" y="2989088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</a:t>
            </a:r>
            <a:endParaRPr/>
          </a:p>
        </p:txBody>
      </p:sp>
      <p:sp>
        <p:nvSpPr>
          <p:cNvPr id="134" name="Google Shape;134;p23"/>
          <p:cNvSpPr txBox="1"/>
          <p:nvPr>
            <p:ph idx="16" type="title"/>
          </p:nvPr>
        </p:nvSpPr>
        <p:spPr>
          <a:xfrm>
            <a:off x="4331942" y="3896724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09</a:t>
            </a:r>
            <a:endParaRPr/>
          </a:p>
        </p:txBody>
      </p:sp>
      <p:sp>
        <p:nvSpPr>
          <p:cNvPr id="135" name="Google Shape;135;p23"/>
          <p:cNvSpPr txBox="1"/>
          <p:nvPr>
            <p:ph idx="17" type="subTitle"/>
          </p:nvPr>
        </p:nvSpPr>
        <p:spPr>
          <a:xfrm>
            <a:off x="4331948" y="414120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Summary</a:t>
            </a:r>
            <a:endParaRPr/>
          </a:p>
        </p:txBody>
      </p:sp>
      <p:sp>
        <p:nvSpPr>
          <p:cNvPr id="136" name="Google Shape;136;p23"/>
          <p:cNvSpPr txBox="1"/>
          <p:nvPr>
            <p:ph idx="14" type="title"/>
          </p:nvPr>
        </p:nvSpPr>
        <p:spPr>
          <a:xfrm>
            <a:off x="7045000" y="1493565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137" name="Google Shape;137;p23"/>
          <p:cNvSpPr txBox="1"/>
          <p:nvPr>
            <p:ph idx="15" type="subTitle"/>
          </p:nvPr>
        </p:nvSpPr>
        <p:spPr>
          <a:xfrm>
            <a:off x="7045000" y="1738025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Key Design Decisions</a:t>
            </a:r>
            <a:endParaRPr/>
          </a:p>
        </p:txBody>
      </p:sp>
      <p:sp>
        <p:nvSpPr>
          <p:cNvPr id="138" name="Google Shape;138;p23"/>
          <p:cNvSpPr txBox="1"/>
          <p:nvPr>
            <p:ph idx="18" type="title"/>
          </p:nvPr>
        </p:nvSpPr>
        <p:spPr>
          <a:xfrm>
            <a:off x="6957625" y="2744637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  <p:sp>
        <p:nvSpPr>
          <p:cNvPr id="139" name="Google Shape;139;p23"/>
          <p:cNvSpPr txBox="1"/>
          <p:nvPr>
            <p:ph idx="19" type="subTitle"/>
          </p:nvPr>
        </p:nvSpPr>
        <p:spPr>
          <a:xfrm>
            <a:off x="6957625" y="2989113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 &amp; Challenges</a:t>
            </a:r>
            <a:endParaRPr/>
          </a:p>
        </p:txBody>
      </p:sp>
      <p:sp>
        <p:nvSpPr>
          <p:cNvPr id="140" name="Google Shape;140;p23"/>
          <p:cNvSpPr txBox="1"/>
          <p:nvPr>
            <p:ph idx="16" type="title"/>
          </p:nvPr>
        </p:nvSpPr>
        <p:spPr>
          <a:xfrm>
            <a:off x="6511742" y="3995674"/>
            <a:ext cx="542700" cy="33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41" name="Google Shape;141;p23"/>
          <p:cNvSpPr txBox="1"/>
          <p:nvPr>
            <p:ph idx="17" type="subTitle"/>
          </p:nvPr>
        </p:nvSpPr>
        <p:spPr>
          <a:xfrm>
            <a:off x="6511748" y="4240150"/>
            <a:ext cx="1609200" cy="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4"/>
          <p:cNvSpPr txBox="1"/>
          <p:nvPr>
            <p:ph type="title"/>
          </p:nvPr>
        </p:nvSpPr>
        <p:spPr>
          <a:xfrm>
            <a:off x="228600" y="3269200"/>
            <a:ext cx="3155400" cy="164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Project Overview</a:t>
            </a:r>
            <a:endParaRPr sz="4000"/>
          </a:p>
        </p:txBody>
      </p:sp>
      <p:sp>
        <p:nvSpPr>
          <p:cNvPr id="147" name="Google Shape;147;p24"/>
          <p:cNvSpPr txBox="1"/>
          <p:nvPr>
            <p:ph idx="1" type="subTitle"/>
          </p:nvPr>
        </p:nvSpPr>
        <p:spPr>
          <a:xfrm>
            <a:off x="3575175" y="335425"/>
            <a:ext cx="5222700" cy="31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Bricolage Grotesque"/>
                <a:ea typeface="Bricolage Grotesque"/>
                <a:cs typeface="Bricolage Grotesque"/>
                <a:sym typeface="Bricolage Grotesque"/>
              </a:rPr>
              <a:t>RWA Tokenization Platform</a:t>
            </a:r>
            <a:endParaRPr b="1" sz="22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Traditional Finance with Blockchain Technology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ricolage Grotesque"/>
                <a:ea typeface="Bricolage Grotesque"/>
                <a:cs typeface="Bricolage Grotesque"/>
                <a:sym typeface="Bricolage Grotesque"/>
              </a:rPr>
              <a:t>Project Scope:</a:t>
            </a:r>
            <a:endParaRPr b="1" sz="14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Tokenization of Real-World Assets (Real Estate, Private Credit, Funds)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On-chain compliance enforcement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Secondary market infrastructure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Institutional-grade security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latin typeface="Bricolage Grotesque"/>
                <a:ea typeface="Bricolage Grotesque"/>
                <a:cs typeface="Bricolage Grotesque"/>
                <a:sym typeface="Bricolage Grotesque"/>
              </a:rPr>
              <a:t>Key Features:</a:t>
            </a:r>
            <a:endParaRPr b="1" sz="14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Fractional ownership through ERC-20 tokens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Automated regulatory compliance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Multi-signature administration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Hybrid custody model (MPC + self-custody)</a:t>
            </a:r>
            <a:endParaRPr/>
          </a:p>
        </p:txBody>
      </p:sp>
      <p:pic>
        <p:nvPicPr>
          <p:cNvPr id="148" name="Google Shape;148;p24" title="65faabf73885c100017d3640_What is Staking and How Does it Work 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9377" r="19377" t="0"/>
          <a:stretch/>
        </p:blipFill>
        <p:spPr>
          <a:xfrm>
            <a:off x="278050" y="553050"/>
            <a:ext cx="2792700" cy="256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228600" y="554398"/>
            <a:ext cx="3201600" cy="19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Situation</a:t>
            </a:r>
            <a:endParaRPr/>
          </a:p>
        </p:txBody>
      </p:sp>
      <p:pic>
        <p:nvPicPr>
          <p:cNvPr id="154" name="Google Shape;154;p25" title="65325c9b54e41a00014a2480_The Tokenization Revolution-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30098" l="0" r="0" t="28074"/>
          <a:stretch/>
        </p:blipFill>
        <p:spPr>
          <a:xfrm>
            <a:off x="228600" y="2910990"/>
            <a:ext cx="8687100" cy="2043900"/>
          </a:xfrm>
          <a:prstGeom prst="roundRect">
            <a:avLst>
              <a:gd fmla="val 16667" name="adj"/>
            </a:avLst>
          </a:prstGeom>
        </p:spPr>
      </p:pic>
      <p:sp>
        <p:nvSpPr>
          <p:cNvPr id="155" name="Google Shape;155;p25"/>
          <p:cNvSpPr txBox="1"/>
          <p:nvPr>
            <p:ph idx="1" type="subTitle"/>
          </p:nvPr>
        </p:nvSpPr>
        <p:spPr>
          <a:xfrm>
            <a:off x="3995400" y="554400"/>
            <a:ext cx="4920300" cy="219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latin typeface="Bricolage Grotesque"/>
                <a:ea typeface="Bricolage Grotesque"/>
                <a:cs typeface="Bricolage Grotesque"/>
                <a:sym typeface="Bricolage Grotesque"/>
              </a:rPr>
              <a:t>Market Problems:</a:t>
            </a:r>
            <a:endParaRPr b="1" sz="2200">
              <a:latin typeface="Bricolage Grotesque"/>
              <a:ea typeface="Bricolage Grotesque"/>
              <a:cs typeface="Bricolage Grotesque"/>
              <a:sym typeface="Bricolage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</a:t>
            </a:r>
            <a:r>
              <a:rPr b="1" lang="en"/>
              <a:t>iquidity:</a:t>
            </a:r>
            <a:r>
              <a:rPr lang="en"/>
              <a:t> Assets locked for years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High Minimums:</a:t>
            </a:r>
            <a:r>
              <a:rPr lang="en"/>
              <a:t> $50K+ investments required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Manual Processes:</a:t>
            </a:r>
            <a:r>
              <a:rPr lang="en"/>
              <a:t> Slow, expensive operations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Limited Access:</a:t>
            </a:r>
            <a:r>
              <a:rPr lang="en"/>
              <a:t> Geographic restrictions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Opacity:</a:t>
            </a:r>
            <a:r>
              <a:rPr lang="en"/>
              <a:t> No transparent pricing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Opportunity:</a:t>
            </a:r>
            <a:r>
              <a:rPr lang="en"/>
              <a:t> $16T+ addressable RWA market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6250" y="551650"/>
            <a:ext cx="25917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 &amp; Mission</a:t>
            </a:r>
            <a:endParaRPr/>
          </a:p>
        </p:txBody>
      </p:sp>
      <p:sp>
        <p:nvSpPr>
          <p:cNvPr id="161" name="Google Shape;161;p26"/>
          <p:cNvSpPr txBox="1"/>
          <p:nvPr>
            <p:ph idx="2" type="subTitle"/>
          </p:nvPr>
        </p:nvSpPr>
        <p:spPr>
          <a:xfrm>
            <a:off x="3767953" y="1242975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Vision: Democratize institutional investment access via blockchain</a:t>
            </a:r>
            <a:endParaRPr/>
          </a:p>
        </p:txBody>
      </p:sp>
      <p:sp>
        <p:nvSpPr>
          <p:cNvPr id="162" name="Google Shape;162;p26"/>
          <p:cNvSpPr txBox="1"/>
          <p:nvPr>
            <p:ph idx="1" type="subTitle"/>
          </p:nvPr>
        </p:nvSpPr>
        <p:spPr>
          <a:xfrm>
            <a:off x="3768000" y="1795575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Core Principles: Security First - Multi-layered protection, Compliance by Design - Regulations embedded in code, Investor Protection - Capital preservation mechanisms</a:t>
            </a:r>
            <a:endParaRPr/>
          </a:p>
        </p:txBody>
      </p:sp>
      <p:sp>
        <p:nvSpPr>
          <p:cNvPr id="163" name="Google Shape;163;p26"/>
          <p:cNvSpPr txBox="1"/>
          <p:nvPr>
            <p:ph idx="3" type="subTitle"/>
          </p:nvPr>
        </p:nvSpPr>
        <p:spPr>
          <a:xfrm>
            <a:off x="3767925" y="3669600"/>
            <a:ext cx="5147400" cy="12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Tokenizes assets efficiently, Embeds regulations in code, Protects investor capital, Scales globally.</a:t>
            </a:r>
            <a:endParaRPr/>
          </a:p>
        </p:txBody>
      </p:sp>
      <p:sp>
        <p:nvSpPr>
          <p:cNvPr id="164" name="Google Shape;164;p26"/>
          <p:cNvSpPr txBox="1"/>
          <p:nvPr>
            <p:ph idx="4" type="subTitle"/>
          </p:nvPr>
        </p:nvSpPr>
        <p:spPr>
          <a:xfrm>
            <a:off x="3767855" y="3117000"/>
            <a:ext cx="5147400" cy="62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Mission: Build secure, compliant platform</a:t>
            </a:r>
            <a:endParaRPr/>
          </a:p>
        </p:txBody>
      </p:sp>
      <p:pic>
        <p:nvPicPr>
          <p:cNvPr id="165" name="Google Shape;165;p26" title="658d52aabf8d3f0001ef2ed7_How to Secure Crypto Account 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9377" r="19377" t="0"/>
          <a:stretch/>
        </p:blipFill>
        <p:spPr>
          <a:xfrm>
            <a:off x="395775" y="2270650"/>
            <a:ext cx="2792700" cy="25650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7"/>
          <p:cNvSpPr txBox="1"/>
          <p:nvPr>
            <p:ph type="title"/>
          </p:nvPr>
        </p:nvSpPr>
        <p:spPr>
          <a:xfrm>
            <a:off x="228600" y="3336550"/>
            <a:ext cx="8628600" cy="15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700"/>
              <a:t>Design</a:t>
            </a:r>
            <a:r>
              <a:rPr b="0" lang="en" sz="3400"/>
              <a:t> </a:t>
            </a:r>
            <a:r>
              <a:rPr lang="en" sz="10000"/>
              <a:t>Architecture</a:t>
            </a:r>
            <a:endParaRPr sz="10000"/>
          </a:p>
        </p:txBody>
      </p:sp>
      <p:pic>
        <p:nvPicPr>
          <p:cNvPr id="171" name="Google Shape;171;p27" title="architectur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4" cy="289604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8"/>
          <p:cNvSpPr txBox="1"/>
          <p:nvPr>
            <p:ph type="title"/>
          </p:nvPr>
        </p:nvSpPr>
        <p:spPr>
          <a:xfrm>
            <a:off x="257700" y="4354875"/>
            <a:ext cx="86286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Architecture Part - I</a:t>
            </a:r>
            <a:endParaRPr sz="3600"/>
          </a:p>
        </p:txBody>
      </p:sp>
      <p:pic>
        <p:nvPicPr>
          <p:cNvPr id="177" name="Google Shape;177;p28" title="architecture copy.png"/>
          <p:cNvPicPr preferRelativeResize="0"/>
          <p:nvPr/>
        </p:nvPicPr>
        <p:blipFill rotWithShape="1">
          <a:blip r:embed="rId3">
            <a:alphaModFix/>
          </a:blip>
          <a:srcRect b="0" l="4370" r="4379" t="0"/>
          <a:stretch/>
        </p:blipFill>
        <p:spPr>
          <a:xfrm>
            <a:off x="949887" y="241450"/>
            <a:ext cx="7244227" cy="3984901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29" title="architecture copy 2.png"/>
          <p:cNvPicPr preferRelativeResize="0"/>
          <p:nvPr/>
        </p:nvPicPr>
        <p:blipFill rotWithShape="1">
          <a:blip r:embed="rId3">
            <a:alphaModFix/>
          </a:blip>
          <a:srcRect b="980" l="0" r="0" t="990"/>
          <a:stretch/>
        </p:blipFill>
        <p:spPr>
          <a:xfrm>
            <a:off x="80250" y="126000"/>
            <a:ext cx="8983501" cy="4330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83" name="Google Shape;183;p29"/>
          <p:cNvSpPr txBox="1"/>
          <p:nvPr>
            <p:ph type="title"/>
          </p:nvPr>
        </p:nvSpPr>
        <p:spPr>
          <a:xfrm>
            <a:off x="257700" y="4554100"/>
            <a:ext cx="8628600" cy="37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Architecture Part - II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Smart Contract Design</a:t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228600" y="3572675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ERC-20 with ERC-1400/ERC-3643-like feature. Most common for fractional ownership, supports compliance hooks.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228600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01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cxnSp>
        <p:nvCxnSpPr>
          <p:cNvPr id="191" name="Google Shape;191;p30"/>
          <p:cNvCxnSpPr/>
          <p:nvPr/>
        </p:nvCxnSpPr>
        <p:spPr>
          <a:xfrm>
            <a:off x="231925" y="2693525"/>
            <a:ext cx="8695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" name="Google Shape;192;p30"/>
          <p:cNvSpPr txBox="1"/>
          <p:nvPr/>
        </p:nvSpPr>
        <p:spPr>
          <a:xfrm>
            <a:off x="228600" y="2306150"/>
            <a:ext cx="15003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RWA Token (ERC-20 with hooks)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2498825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On-chain allowlist + modular compliance contract. Ensures enforcement at contract level, not just backend.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2498800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02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2498825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Compliance Module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4769000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Primary market sales ( Issuer → Platform → Due Diligence → Contract Deployment → Token Minting )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4768975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03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4769000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Issuance Module</a:t>
            </a:r>
            <a:endParaRPr b="1"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7039200" y="3572674"/>
            <a:ext cx="18765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Dividends and redemptions.</a:t>
            </a:r>
            <a:b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</a:br>
            <a:r>
              <a:rPr lang="en" sz="1200">
                <a:solidFill>
                  <a:schemeClr val="dk1"/>
                </a:solidFill>
                <a:latin typeface="Heebo"/>
                <a:ea typeface="Heebo"/>
                <a:cs typeface="Heebo"/>
                <a:sym typeface="Heebo"/>
              </a:rPr>
              <a:t>Asset and investor management</a:t>
            </a:r>
            <a:endParaRPr sz="1200">
              <a:solidFill>
                <a:schemeClr val="dk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00" name="Google Shape;200;p30"/>
          <p:cNvSpPr txBox="1"/>
          <p:nvPr/>
        </p:nvSpPr>
        <p:spPr>
          <a:xfrm>
            <a:off x="7039175" y="2688100"/>
            <a:ext cx="1876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04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7039200" y="2306150"/>
            <a:ext cx="14892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Corporate Actions &amp; Registry</a:t>
            </a:r>
            <a:endParaRPr sz="1600">
              <a:solidFill>
                <a:schemeClr val="dk2"/>
              </a:solidFill>
              <a:latin typeface="Bricolage Grotesque"/>
              <a:ea typeface="Bricolage Grotesque"/>
              <a:cs typeface="Bricolage Grotesque"/>
              <a:sym typeface="Bricolage Grotesque"/>
            </a:endParaRPr>
          </a:p>
        </p:txBody>
      </p:sp>
      <p:sp>
        <p:nvSpPr>
          <p:cNvPr id="202" name="Google Shape;202;p30"/>
          <p:cNvSpPr txBox="1"/>
          <p:nvPr/>
        </p:nvSpPr>
        <p:spPr>
          <a:xfrm>
            <a:off x="290750" y="1265775"/>
            <a:ext cx="300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Modular Architecture: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1"/>
          <p:cNvSpPr txBox="1"/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Compliance Model</a:t>
            </a:r>
            <a:endParaRPr/>
          </a:p>
        </p:txBody>
      </p:sp>
      <p:sp>
        <p:nvSpPr>
          <p:cNvPr id="208" name="Google Shape;208;p31"/>
          <p:cNvSpPr txBox="1"/>
          <p:nvPr>
            <p:ph idx="2" type="subTitle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restrictions at contract level. Allowlist validation before any transaction. Jurisdiction encoding (country restrictions). Administrative override capabilities</a:t>
            </a:r>
            <a:endParaRPr/>
          </a:p>
        </p:txBody>
      </p:sp>
      <p:sp>
        <p:nvSpPr>
          <p:cNvPr id="209" name="Google Shape;209;p31"/>
          <p:cNvSpPr txBox="1"/>
          <p:nvPr>
            <p:ph idx="1" type="subTitle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KYC/AML via accredited providers. Accreditation verification. Sanctions screening. Ongoing monitoring</a:t>
            </a:r>
            <a:endParaRPr/>
          </a:p>
        </p:txBody>
      </p:sp>
      <p:sp>
        <p:nvSpPr>
          <p:cNvPr id="210" name="Google Shape;210;p31"/>
          <p:cNvSpPr txBox="1"/>
          <p:nvPr>
            <p:ph idx="3" type="subTitle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Pause/Unpause functionality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Address freezing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Forced transfers (regulatory requirements)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✅ Audit trails for all transactions</a:t>
            </a:r>
            <a:endParaRPr/>
          </a:p>
        </p:txBody>
      </p:sp>
      <p:sp>
        <p:nvSpPr>
          <p:cNvPr id="211" name="Google Shape;211;p31"/>
          <p:cNvSpPr txBox="1"/>
          <p:nvPr>
            <p:ph idx="4" type="title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12" name="Google Shape;212;p31"/>
          <p:cNvSpPr txBox="1"/>
          <p:nvPr>
            <p:ph idx="5" type="title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13" name="Google Shape;213;p31"/>
          <p:cNvSpPr txBox="1"/>
          <p:nvPr>
            <p:ph idx="6" type="title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14" name="Google Shape;214;p31"/>
          <p:cNvSpPr txBox="1"/>
          <p:nvPr>
            <p:ph idx="7" type="subTitle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Off-Chain Verification</a:t>
            </a:r>
            <a:endParaRPr/>
          </a:p>
        </p:txBody>
      </p:sp>
      <p:sp>
        <p:nvSpPr>
          <p:cNvPr id="215" name="Google Shape;215;p31"/>
          <p:cNvSpPr txBox="1"/>
          <p:nvPr>
            <p:ph idx="8" type="subTitle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On-Chain Enforcement:</a:t>
            </a:r>
            <a:endParaRPr/>
          </a:p>
        </p:txBody>
      </p:sp>
      <p:sp>
        <p:nvSpPr>
          <p:cNvPr id="216" name="Google Shape;216;p31"/>
          <p:cNvSpPr txBox="1"/>
          <p:nvPr>
            <p:ph idx="9" type="subTitle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Compliance Features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 txBox="1"/>
          <p:nvPr>
            <p:ph type="title"/>
          </p:nvPr>
        </p:nvSpPr>
        <p:spPr>
          <a:xfrm>
            <a:off x="228600" y="1159200"/>
            <a:ext cx="3636000" cy="282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Design Decisions</a:t>
            </a:r>
            <a:endParaRPr/>
          </a:p>
        </p:txBody>
      </p:sp>
      <p:sp>
        <p:nvSpPr>
          <p:cNvPr id="222" name="Google Shape;222;p32"/>
          <p:cNvSpPr txBox="1"/>
          <p:nvPr>
            <p:ph idx="1" type="subTitle"/>
          </p:nvPr>
        </p:nvSpPr>
        <p:spPr>
          <a:xfrm>
            <a:off x="5061325" y="836367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Fungible token standard, Compatibility, fungibility, simplicity</a:t>
            </a:r>
            <a:endParaRPr/>
          </a:p>
        </p:txBody>
      </p:sp>
      <p:sp>
        <p:nvSpPr>
          <p:cNvPr id="223" name="Google Shape;223;p32"/>
          <p:cNvSpPr txBox="1"/>
          <p:nvPr>
            <p:ph idx="2" type="subTitle"/>
          </p:nvPr>
        </p:nvSpPr>
        <p:spPr>
          <a:xfrm>
            <a:off x="5061325" y="386496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ERC-20 Standard (not ERC-1155) for fungible RWAs</a:t>
            </a:r>
            <a:endParaRPr/>
          </a:p>
        </p:txBody>
      </p:sp>
      <p:sp>
        <p:nvSpPr>
          <p:cNvPr id="224" name="Google Shape;224;p32"/>
          <p:cNvSpPr txBox="1"/>
          <p:nvPr>
            <p:ph idx="3" type="title"/>
          </p:nvPr>
        </p:nvSpPr>
        <p:spPr>
          <a:xfrm>
            <a:off x="4500325" y="346316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25" name="Google Shape;225;p32"/>
          <p:cNvSpPr txBox="1"/>
          <p:nvPr>
            <p:ph idx="4" type="subTitle"/>
          </p:nvPr>
        </p:nvSpPr>
        <p:spPr>
          <a:xfrm>
            <a:off x="5061325" y="1988735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Pre-transfer validation callback, Real-time compliance enforcement</a:t>
            </a:r>
            <a:endParaRPr/>
          </a:p>
        </p:txBody>
      </p:sp>
      <p:sp>
        <p:nvSpPr>
          <p:cNvPr id="226" name="Google Shape;226;p32"/>
          <p:cNvSpPr txBox="1"/>
          <p:nvPr>
            <p:ph idx="5" type="subTitle"/>
          </p:nvPr>
        </p:nvSpPr>
        <p:spPr>
          <a:xfrm>
            <a:off x="5061325" y="1570289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Transfer Hooks for compliance enforcement</a:t>
            </a:r>
            <a:endParaRPr/>
          </a:p>
        </p:txBody>
      </p:sp>
      <p:sp>
        <p:nvSpPr>
          <p:cNvPr id="227" name="Google Shape;227;p32"/>
          <p:cNvSpPr txBox="1"/>
          <p:nvPr>
            <p:ph idx="6" type="title"/>
          </p:nvPr>
        </p:nvSpPr>
        <p:spPr>
          <a:xfrm>
            <a:off x="4500325" y="1570208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28" name="Google Shape;228;p32"/>
          <p:cNvSpPr txBox="1"/>
          <p:nvPr>
            <p:ph idx="7" type="subTitle"/>
          </p:nvPr>
        </p:nvSpPr>
        <p:spPr>
          <a:xfrm>
            <a:off x="5061325" y="3141128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91919"/>
                </a:solidFill>
                <a:latin typeface="Open Sans"/>
                <a:ea typeface="Open Sans"/>
                <a:cs typeface="Open Sans"/>
                <a:sym typeface="Open Sans"/>
              </a:rPr>
              <a:t>Logic/storage separation for upgrades, Future-proof, fixable, seamless updates</a:t>
            </a:r>
            <a:endParaRPr/>
          </a:p>
        </p:txBody>
      </p:sp>
      <p:sp>
        <p:nvSpPr>
          <p:cNvPr id="229" name="Google Shape;229;p32"/>
          <p:cNvSpPr txBox="1"/>
          <p:nvPr>
            <p:ph idx="8" type="subTitle"/>
          </p:nvPr>
        </p:nvSpPr>
        <p:spPr>
          <a:xfrm>
            <a:off x="5061325" y="2656631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Proxy Pattern for upgradeability</a:t>
            </a:r>
            <a:endParaRPr/>
          </a:p>
        </p:txBody>
      </p:sp>
      <p:sp>
        <p:nvSpPr>
          <p:cNvPr id="230" name="Google Shape;230;p32"/>
          <p:cNvSpPr txBox="1"/>
          <p:nvPr>
            <p:ph idx="9" type="title"/>
          </p:nvPr>
        </p:nvSpPr>
        <p:spPr>
          <a:xfrm>
            <a:off x="4500325" y="2693836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31" name="Google Shape;231;p32"/>
          <p:cNvSpPr txBox="1"/>
          <p:nvPr>
            <p:ph idx="13" type="subTitle"/>
          </p:nvPr>
        </p:nvSpPr>
        <p:spPr>
          <a:xfrm>
            <a:off x="5061325" y="4427465"/>
            <a:ext cx="3854400" cy="59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7-day delay before upgrade execution and 3 of 5 signatures required for admin actions</a:t>
            </a:r>
            <a:endParaRPr/>
          </a:p>
        </p:txBody>
      </p:sp>
      <p:sp>
        <p:nvSpPr>
          <p:cNvPr id="232" name="Google Shape;232;p32"/>
          <p:cNvSpPr txBox="1"/>
          <p:nvPr>
            <p:ph idx="14" type="subTitle"/>
          </p:nvPr>
        </p:nvSpPr>
        <p:spPr>
          <a:xfrm>
            <a:off x="5061325" y="4018074"/>
            <a:ext cx="38544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Time-locked Upgrades &amp; Multi-signature Admin</a:t>
            </a:r>
            <a:endParaRPr/>
          </a:p>
        </p:txBody>
      </p:sp>
      <p:sp>
        <p:nvSpPr>
          <p:cNvPr id="233" name="Google Shape;233;p32"/>
          <p:cNvSpPr txBox="1"/>
          <p:nvPr>
            <p:ph idx="15" type="title"/>
          </p:nvPr>
        </p:nvSpPr>
        <p:spPr>
          <a:xfrm>
            <a:off x="4500325" y="3952016"/>
            <a:ext cx="561000" cy="48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3"/>
          <p:cNvSpPr txBox="1"/>
          <p:nvPr>
            <p:ph type="title"/>
          </p:nvPr>
        </p:nvSpPr>
        <p:spPr>
          <a:xfrm>
            <a:off x="198675" y="2960325"/>
            <a:ext cx="3539100" cy="215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Framework</a:t>
            </a:r>
            <a:endParaRPr/>
          </a:p>
        </p:txBody>
      </p:sp>
      <p:sp>
        <p:nvSpPr>
          <p:cNvPr id="239" name="Google Shape;239;p33"/>
          <p:cNvSpPr txBox="1"/>
          <p:nvPr>
            <p:ph idx="2" type="subTitle"/>
          </p:nvPr>
        </p:nvSpPr>
        <p:spPr>
          <a:xfrm>
            <a:off x="3943548" y="600675"/>
            <a:ext cx="5120100" cy="625500"/>
          </a:xfrm>
          <a:prstGeom prst="rect">
            <a:avLst/>
          </a:prstGeom>
        </p:spPr>
        <p:txBody>
          <a:bodyPr anchorCtr="0" anchor="b" bIns="90950" lIns="90950" spcFirstLastPara="1" rIns="90950" wrap="square" tIns="9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1"/>
              <a:t>Smart Contracts:</a:t>
            </a:r>
            <a:endParaRPr sz="1591"/>
          </a:p>
        </p:txBody>
      </p:sp>
      <p:sp>
        <p:nvSpPr>
          <p:cNvPr id="240" name="Google Shape;240;p33"/>
          <p:cNvSpPr txBox="1"/>
          <p:nvPr>
            <p:ph idx="1" type="subTitle"/>
          </p:nvPr>
        </p:nvSpPr>
        <p:spPr>
          <a:xfrm>
            <a:off x="3943594" y="1150352"/>
            <a:ext cx="5120100" cy="1238700"/>
          </a:xfrm>
          <a:prstGeom prst="rect">
            <a:avLst/>
          </a:prstGeom>
        </p:spPr>
        <p:txBody>
          <a:bodyPr anchorCtr="0" anchor="t" bIns="90950" lIns="90950" spcFirstLastPara="1" rIns="90950" wrap="square" tIns="9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system is secured through multiple independent audits, formal verification of critical components, a generous bug bounty program offering over $1M in rewards, and time-locked upgrades with a mandatory 7-day delay to ensure transparency and community oversight.</a:t>
            </a:r>
            <a:endParaRPr/>
          </a:p>
        </p:txBody>
      </p:sp>
      <p:sp>
        <p:nvSpPr>
          <p:cNvPr id="241" name="Google Shape;241;p33"/>
          <p:cNvSpPr txBox="1"/>
          <p:nvPr>
            <p:ph idx="3" type="subTitle"/>
          </p:nvPr>
        </p:nvSpPr>
        <p:spPr>
          <a:xfrm>
            <a:off x="3943632" y="3335288"/>
            <a:ext cx="5120100" cy="1238700"/>
          </a:xfrm>
          <a:prstGeom prst="rect">
            <a:avLst/>
          </a:prstGeom>
        </p:spPr>
        <p:txBody>
          <a:bodyPr anchorCtr="0" anchor="t" bIns="90950" lIns="90950" spcFirstLastPara="1" rIns="90950" wrap="square" tIns="9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Administrative control is protected by a 3-of-5 multi-signature scheme, issuer funds are safeguarded using MPC-based custody, and assets are secured in hardware wallet storage to minimize single points of failure.</a:t>
            </a:r>
            <a:endParaRPr/>
          </a:p>
        </p:txBody>
      </p:sp>
      <p:sp>
        <p:nvSpPr>
          <p:cNvPr id="242" name="Google Shape;242;p33"/>
          <p:cNvSpPr txBox="1"/>
          <p:nvPr>
            <p:ph idx="4" type="subTitle"/>
          </p:nvPr>
        </p:nvSpPr>
        <p:spPr>
          <a:xfrm>
            <a:off x="3943563" y="2785611"/>
            <a:ext cx="5120100" cy="625500"/>
          </a:xfrm>
          <a:prstGeom prst="rect">
            <a:avLst/>
          </a:prstGeom>
        </p:spPr>
        <p:txBody>
          <a:bodyPr anchorCtr="0" anchor="b" bIns="90950" lIns="90950" spcFirstLastPara="1" rIns="90950" wrap="square" tIns="909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91"/>
              <a:t>Key Management:</a:t>
            </a:r>
            <a:endParaRPr sz="1591"/>
          </a:p>
        </p:txBody>
      </p:sp>
      <p:pic>
        <p:nvPicPr>
          <p:cNvPr id="243" name="Google Shape;243;p33" title="6582cc97f6b6d50001fc1144_Blockchain Security What Makes a Blockchain Secure 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9378" r="19372" t="0"/>
          <a:stretch/>
        </p:blipFill>
        <p:spPr>
          <a:xfrm>
            <a:off x="484975" y="526900"/>
            <a:ext cx="2459400" cy="2258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4"/>
          <p:cNvSpPr txBox="1"/>
          <p:nvPr>
            <p:ph type="title"/>
          </p:nvPr>
        </p:nvSpPr>
        <p:spPr>
          <a:xfrm>
            <a:off x="1887000" y="3909000"/>
            <a:ext cx="7028400" cy="100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Privacy</a:t>
            </a:r>
            <a:endParaRPr/>
          </a:p>
        </p:txBody>
      </p:sp>
      <p:sp>
        <p:nvSpPr>
          <p:cNvPr id="249" name="Google Shape;249;p34"/>
          <p:cNvSpPr txBox="1"/>
          <p:nvPr>
            <p:ph idx="2" type="subTitle"/>
          </p:nvPr>
        </p:nvSpPr>
        <p:spPr>
          <a:xfrm>
            <a:off x="22845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Only non-sensitive information is recorded on-chain, including token balances, a boolean allowlist status, and encoded attributes. This ensures transparency and verifiability while minimizing exposure of user information.</a:t>
            </a:r>
            <a:endParaRPr/>
          </a:p>
        </p:txBody>
      </p:sp>
      <p:sp>
        <p:nvSpPr>
          <p:cNvPr id="250" name="Google Shape;250;p34"/>
          <p:cNvSpPr txBox="1"/>
          <p:nvPr>
            <p:ph idx="1" type="subTitle"/>
          </p:nvPr>
        </p:nvSpPr>
        <p:spPr>
          <a:xfrm>
            <a:off x="3309609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All personally identifiable and sensitive data—such as names, email addresses, government IDs, and financial details—is strictly kept off-chain. This data is handled exclusively by trusted KYC providers and never written to the blockchain.</a:t>
            </a:r>
            <a:endParaRPr/>
          </a:p>
        </p:txBody>
      </p:sp>
      <p:sp>
        <p:nvSpPr>
          <p:cNvPr id="251" name="Google Shape;251;p34"/>
          <p:cNvSpPr txBox="1"/>
          <p:nvPr>
            <p:ph idx="3" type="subTitle"/>
          </p:nvPr>
        </p:nvSpPr>
        <p:spPr>
          <a:xfrm>
            <a:off x="6390000" y="1591350"/>
            <a:ext cx="2525400" cy="14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compliance process follows a privacy-first flow: user data is verified by a KYC provider, the result is encrypted, the allowlist is updated accordingly, and only the final compliance status is reflected on-chain.</a:t>
            </a:r>
            <a:endParaRPr/>
          </a:p>
        </p:txBody>
      </p:sp>
      <p:sp>
        <p:nvSpPr>
          <p:cNvPr id="252" name="Google Shape;252;p34"/>
          <p:cNvSpPr txBox="1"/>
          <p:nvPr>
            <p:ph idx="4" type="title"/>
          </p:nvPr>
        </p:nvSpPr>
        <p:spPr>
          <a:xfrm>
            <a:off x="3308991" y="228600"/>
            <a:ext cx="16401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53" name="Google Shape;253;p34"/>
          <p:cNvSpPr txBox="1"/>
          <p:nvPr>
            <p:ph idx="5" type="title"/>
          </p:nvPr>
        </p:nvSpPr>
        <p:spPr>
          <a:xfrm>
            <a:off x="228475" y="228968"/>
            <a:ext cx="1706100" cy="76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54" name="Google Shape;254;p34"/>
          <p:cNvSpPr txBox="1"/>
          <p:nvPr>
            <p:ph idx="6" type="title"/>
          </p:nvPr>
        </p:nvSpPr>
        <p:spPr>
          <a:xfrm>
            <a:off x="6390000" y="228600"/>
            <a:ext cx="1479300" cy="76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55" name="Google Shape;255;p34"/>
          <p:cNvSpPr txBox="1"/>
          <p:nvPr>
            <p:ph idx="7" type="subTitle"/>
          </p:nvPr>
        </p:nvSpPr>
        <p:spPr>
          <a:xfrm>
            <a:off x="3309609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Never On-Chain</a:t>
            </a:r>
            <a:endParaRPr/>
          </a:p>
        </p:txBody>
      </p:sp>
      <p:sp>
        <p:nvSpPr>
          <p:cNvPr id="256" name="Google Shape;256;p34"/>
          <p:cNvSpPr txBox="1"/>
          <p:nvPr>
            <p:ph idx="8" type="subTitle"/>
          </p:nvPr>
        </p:nvSpPr>
        <p:spPr>
          <a:xfrm>
            <a:off x="22845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On-Chain</a:t>
            </a:r>
            <a:endParaRPr/>
          </a:p>
        </p:txBody>
      </p:sp>
      <p:sp>
        <p:nvSpPr>
          <p:cNvPr id="257" name="Google Shape;257;p34"/>
          <p:cNvSpPr txBox="1"/>
          <p:nvPr>
            <p:ph idx="9" type="subTitle"/>
          </p:nvPr>
        </p:nvSpPr>
        <p:spPr>
          <a:xfrm>
            <a:off x="6390000" y="1103850"/>
            <a:ext cx="2525400" cy="56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Verification Flow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5"/>
          <p:cNvSpPr txBox="1"/>
          <p:nvPr>
            <p:ph type="title"/>
          </p:nvPr>
        </p:nvSpPr>
        <p:spPr>
          <a:xfrm>
            <a:off x="228600" y="228600"/>
            <a:ext cx="8686500" cy="76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Risks &amp; Challenges</a:t>
            </a:r>
            <a:endParaRPr/>
          </a:p>
        </p:txBody>
      </p:sp>
      <p:sp>
        <p:nvSpPr>
          <p:cNvPr id="263" name="Google Shape;263;p35"/>
          <p:cNvSpPr/>
          <p:nvPr/>
        </p:nvSpPr>
        <p:spPr>
          <a:xfrm>
            <a:off x="225700" y="125873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4" name="Google Shape;264;p35"/>
          <p:cNvSpPr/>
          <p:nvPr/>
        </p:nvSpPr>
        <p:spPr>
          <a:xfrm>
            <a:off x="433501" y="125873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5" name="Google Shape;265;p35"/>
          <p:cNvSpPr/>
          <p:nvPr/>
        </p:nvSpPr>
        <p:spPr>
          <a:xfrm>
            <a:off x="641303" y="125873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6" name="Google Shape;266;p35"/>
          <p:cNvSpPr/>
          <p:nvPr/>
        </p:nvSpPr>
        <p:spPr>
          <a:xfrm>
            <a:off x="849104" y="125873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7" name="Google Shape;267;p35"/>
          <p:cNvSpPr/>
          <p:nvPr/>
        </p:nvSpPr>
        <p:spPr>
          <a:xfrm>
            <a:off x="1056906" y="125873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8" name="Google Shape;268;p35"/>
          <p:cNvSpPr/>
          <p:nvPr/>
        </p:nvSpPr>
        <p:spPr>
          <a:xfrm>
            <a:off x="1264707" y="125873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69" name="Google Shape;269;p35"/>
          <p:cNvSpPr/>
          <p:nvPr/>
        </p:nvSpPr>
        <p:spPr>
          <a:xfrm>
            <a:off x="1472508" y="125873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0" name="Google Shape;270;p35"/>
          <p:cNvSpPr/>
          <p:nvPr/>
        </p:nvSpPr>
        <p:spPr>
          <a:xfrm>
            <a:off x="1680310" y="125873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1" name="Google Shape;271;p35"/>
          <p:cNvSpPr/>
          <p:nvPr/>
        </p:nvSpPr>
        <p:spPr>
          <a:xfrm>
            <a:off x="1888111" y="125873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2" name="Google Shape;272;p35"/>
          <p:cNvSpPr/>
          <p:nvPr/>
        </p:nvSpPr>
        <p:spPr>
          <a:xfrm>
            <a:off x="2095913" y="125873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3" name="Google Shape;273;p35"/>
          <p:cNvSpPr txBox="1"/>
          <p:nvPr/>
        </p:nvSpPr>
        <p:spPr>
          <a:xfrm>
            <a:off x="228600" y="186235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50%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74" name="Google Shape;274;p35"/>
          <p:cNvSpPr txBox="1"/>
          <p:nvPr/>
        </p:nvSpPr>
        <p:spPr>
          <a:xfrm>
            <a:off x="2369000" y="125873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Security Risks :</a:t>
            </a: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 Critical threats like smart contract exploits and key compromises require top priority. We address these through multiple audits, bug bounties, and formal verification to protect funds and platform integrity.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5" name="Google Shape;275;p35"/>
          <p:cNvSpPr/>
          <p:nvPr/>
        </p:nvSpPr>
        <p:spPr>
          <a:xfrm>
            <a:off x="227150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6" name="Google Shape;276;p35"/>
          <p:cNvSpPr/>
          <p:nvPr/>
        </p:nvSpPr>
        <p:spPr>
          <a:xfrm>
            <a:off x="434951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7" name="Google Shape;277;p35"/>
          <p:cNvSpPr/>
          <p:nvPr/>
        </p:nvSpPr>
        <p:spPr>
          <a:xfrm>
            <a:off x="642753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8" name="Google Shape;278;p35"/>
          <p:cNvSpPr/>
          <p:nvPr/>
        </p:nvSpPr>
        <p:spPr>
          <a:xfrm>
            <a:off x="850554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79" name="Google Shape;279;p35"/>
          <p:cNvSpPr/>
          <p:nvPr/>
        </p:nvSpPr>
        <p:spPr>
          <a:xfrm>
            <a:off x="1058356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1266157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1" name="Google Shape;281;p35"/>
          <p:cNvSpPr/>
          <p:nvPr/>
        </p:nvSpPr>
        <p:spPr>
          <a:xfrm>
            <a:off x="1473958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2" name="Google Shape;282;p35"/>
          <p:cNvSpPr/>
          <p:nvPr/>
        </p:nvSpPr>
        <p:spPr>
          <a:xfrm>
            <a:off x="1681760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3" name="Google Shape;283;p35"/>
          <p:cNvSpPr/>
          <p:nvPr/>
        </p:nvSpPr>
        <p:spPr>
          <a:xfrm>
            <a:off x="1889561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4" name="Google Shape;284;p35"/>
          <p:cNvSpPr/>
          <p:nvPr/>
        </p:nvSpPr>
        <p:spPr>
          <a:xfrm>
            <a:off x="2097363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5" name="Google Shape;285;p35"/>
          <p:cNvSpPr txBox="1"/>
          <p:nvPr/>
        </p:nvSpPr>
        <p:spPr>
          <a:xfrm>
            <a:off x="230050" y="390937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80</a:t>
            </a: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86" name="Google Shape;286;p35"/>
          <p:cNvSpPr txBox="1"/>
          <p:nvPr/>
        </p:nvSpPr>
        <p:spPr>
          <a:xfrm>
            <a:off x="2370450" y="330575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Market &amp; Adoption :</a:t>
            </a: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 Our biggest challenge is attracting issuers and investors to build liquidity. Success depends on strategic partnerships,and bridging traditional and digital finance.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7" name="Google Shape;287;p35"/>
          <p:cNvSpPr/>
          <p:nvPr/>
        </p:nvSpPr>
        <p:spPr>
          <a:xfrm>
            <a:off x="4725500" y="125870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8" name="Google Shape;288;p35"/>
          <p:cNvSpPr/>
          <p:nvPr/>
        </p:nvSpPr>
        <p:spPr>
          <a:xfrm>
            <a:off x="4933301" y="125870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89" name="Google Shape;289;p35"/>
          <p:cNvSpPr/>
          <p:nvPr/>
        </p:nvSpPr>
        <p:spPr>
          <a:xfrm>
            <a:off x="5141103" y="125870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0" name="Google Shape;290;p35"/>
          <p:cNvSpPr/>
          <p:nvPr/>
        </p:nvSpPr>
        <p:spPr>
          <a:xfrm>
            <a:off x="5348904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1" name="Google Shape;291;p35"/>
          <p:cNvSpPr/>
          <p:nvPr/>
        </p:nvSpPr>
        <p:spPr>
          <a:xfrm>
            <a:off x="5556706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2" name="Google Shape;292;p35"/>
          <p:cNvSpPr/>
          <p:nvPr/>
        </p:nvSpPr>
        <p:spPr>
          <a:xfrm>
            <a:off x="5764507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3" name="Google Shape;293;p35"/>
          <p:cNvSpPr/>
          <p:nvPr/>
        </p:nvSpPr>
        <p:spPr>
          <a:xfrm>
            <a:off x="5972308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4" name="Google Shape;294;p35"/>
          <p:cNvSpPr/>
          <p:nvPr/>
        </p:nvSpPr>
        <p:spPr>
          <a:xfrm>
            <a:off x="6180110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5" name="Google Shape;295;p35"/>
          <p:cNvSpPr/>
          <p:nvPr/>
        </p:nvSpPr>
        <p:spPr>
          <a:xfrm>
            <a:off x="6387911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6" name="Google Shape;296;p35"/>
          <p:cNvSpPr/>
          <p:nvPr/>
        </p:nvSpPr>
        <p:spPr>
          <a:xfrm>
            <a:off x="6595713" y="125870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7" name="Google Shape;297;p35"/>
          <p:cNvSpPr txBox="1"/>
          <p:nvPr/>
        </p:nvSpPr>
        <p:spPr>
          <a:xfrm>
            <a:off x="4728400" y="186232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30</a:t>
            </a: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298" name="Google Shape;298;p35"/>
          <p:cNvSpPr txBox="1"/>
          <p:nvPr/>
        </p:nvSpPr>
        <p:spPr>
          <a:xfrm>
            <a:off x="6868800" y="125870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Regulatory &amp; Compliance : </a:t>
            </a: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Evolving global securities and AML laws demand constant attention. We build flexible compliance systems and work with legal experts to ensure lawful operations across jurisdictions.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299" name="Google Shape;299;p35"/>
          <p:cNvSpPr/>
          <p:nvPr/>
        </p:nvSpPr>
        <p:spPr>
          <a:xfrm>
            <a:off x="4726950" y="3305750"/>
            <a:ext cx="128100" cy="49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0" name="Google Shape;300;p35"/>
          <p:cNvSpPr/>
          <p:nvPr/>
        </p:nvSpPr>
        <p:spPr>
          <a:xfrm>
            <a:off x="4934751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1" name="Google Shape;301;p35"/>
          <p:cNvSpPr/>
          <p:nvPr/>
        </p:nvSpPr>
        <p:spPr>
          <a:xfrm>
            <a:off x="5142553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2" name="Google Shape;302;p35"/>
          <p:cNvSpPr/>
          <p:nvPr/>
        </p:nvSpPr>
        <p:spPr>
          <a:xfrm>
            <a:off x="5350354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3" name="Google Shape;303;p35"/>
          <p:cNvSpPr/>
          <p:nvPr/>
        </p:nvSpPr>
        <p:spPr>
          <a:xfrm>
            <a:off x="5558156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4" name="Google Shape;304;p35"/>
          <p:cNvSpPr/>
          <p:nvPr/>
        </p:nvSpPr>
        <p:spPr>
          <a:xfrm>
            <a:off x="5765957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5" name="Google Shape;305;p35"/>
          <p:cNvSpPr/>
          <p:nvPr/>
        </p:nvSpPr>
        <p:spPr>
          <a:xfrm>
            <a:off x="5973758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6" name="Google Shape;306;p35"/>
          <p:cNvSpPr/>
          <p:nvPr/>
        </p:nvSpPr>
        <p:spPr>
          <a:xfrm>
            <a:off x="6181560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6389361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6597163" y="3305750"/>
            <a:ext cx="128100" cy="49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Heebo"/>
              <a:ea typeface="Heebo"/>
              <a:cs typeface="Heebo"/>
              <a:sym typeface="Heebo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4729850" y="3909375"/>
            <a:ext cx="199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10</a:t>
            </a:r>
            <a:r>
              <a:rPr lang="en" sz="5000">
                <a:solidFill>
                  <a:schemeClr val="dk2"/>
                </a:solidFill>
                <a:latin typeface="Bricolage Grotesque ExtraLight"/>
                <a:ea typeface="Bricolage Grotesque ExtraLight"/>
                <a:cs typeface="Bricolage Grotesque ExtraLight"/>
                <a:sym typeface="Bricolage Grotesque ExtraLight"/>
              </a:rPr>
              <a:t>%</a:t>
            </a:r>
            <a:endParaRPr sz="5000">
              <a:solidFill>
                <a:schemeClr val="dk2"/>
              </a:solidFill>
              <a:latin typeface="Bricolage Grotesque ExtraLight"/>
              <a:ea typeface="Bricolage Grotesque ExtraLight"/>
              <a:cs typeface="Bricolage Grotesque ExtraLight"/>
              <a:sym typeface="Bricolage Grotesque ExtraLight"/>
            </a:endParaRPr>
          </a:p>
        </p:txBody>
      </p:sp>
      <p:sp>
        <p:nvSpPr>
          <p:cNvPr id="310" name="Google Shape;310;p35"/>
          <p:cNvSpPr txBox="1"/>
          <p:nvPr/>
        </p:nvSpPr>
        <p:spPr>
          <a:xfrm>
            <a:off x="6870250" y="3305750"/>
            <a:ext cx="2046300" cy="140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2"/>
                </a:solidFill>
                <a:latin typeface="Bricolage Grotesque"/>
                <a:ea typeface="Bricolage Grotesque"/>
                <a:cs typeface="Bricolage Grotesque"/>
                <a:sym typeface="Bricolage Grotesque"/>
              </a:rPr>
              <a:t>Technical Scalability : </a:t>
            </a:r>
            <a:r>
              <a:rPr lang="en" sz="1200">
                <a:solidFill>
                  <a:schemeClr val="dk2"/>
                </a:solidFill>
                <a:latin typeface="Heebo"/>
                <a:ea typeface="Heebo"/>
                <a:cs typeface="Heebo"/>
                <a:sym typeface="Heebo"/>
              </a:rPr>
              <a:t>Long-term growth requires planning for transaction volume and cost. We prioritize Layer 2 readiness and gas optimization, which are manageable with existing solutions.</a:t>
            </a:r>
            <a:endParaRPr sz="1200">
              <a:solidFill>
                <a:schemeClr val="dk2"/>
              </a:solidFill>
              <a:latin typeface="Heebo"/>
              <a:ea typeface="Heebo"/>
              <a:cs typeface="Heebo"/>
              <a:sym typeface="Heeb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6"/>
          <p:cNvSpPr txBox="1"/>
          <p:nvPr>
            <p:ph type="title"/>
          </p:nvPr>
        </p:nvSpPr>
        <p:spPr>
          <a:xfrm>
            <a:off x="1795875" y="384875"/>
            <a:ext cx="59337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Queries ?</a:t>
            </a:r>
            <a:endParaRPr sz="5000"/>
          </a:p>
        </p:txBody>
      </p:sp>
      <p:sp>
        <p:nvSpPr>
          <p:cNvPr id="316" name="Google Shape;316;p36"/>
          <p:cNvSpPr/>
          <p:nvPr/>
        </p:nvSpPr>
        <p:spPr>
          <a:xfrm>
            <a:off x="7059663" y="4618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6"/>
          <p:cNvSpPr/>
          <p:nvPr/>
        </p:nvSpPr>
        <p:spPr>
          <a:xfrm>
            <a:off x="8071288" y="4618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6"/>
          <p:cNvSpPr/>
          <p:nvPr/>
        </p:nvSpPr>
        <p:spPr>
          <a:xfrm>
            <a:off x="7565475" y="4617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36"/>
          <p:cNvGrpSpPr/>
          <p:nvPr/>
        </p:nvGrpSpPr>
        <p:grpSpPr>
          <a:xfrm>
            <a:off x="7128105" y="4681287"/>
            <a:ext cx="216482" cy="216461"/>
            <a:chOff x="3368074" y="3882537"/>
            <a:chExt cx="215298" cy="215298"/>
          </a:xfrm>
        </p:grpSpPr>
        <p:sp>
          <p:nvSpPr>
            <p:cNvPr id="320" name="Google Shape;320;p36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3" name="Google Shape;323;p36"/>
          <p:cNvGrpSpPr/>
          <p:nvPr/>
        </p:nvGrpSpPr>
        <p:grpSpPr>
          <a:xfrm>
            <a:off x="8138297" y="4695960"/>
            <a:ext cx="209249" cy="187115"/>
            <a:chOff x="3824739" y="3890112"/>
            <a:chExt cx="208105" cy="186110"/>
          </a:xfrm>
        </p:grpSpPr>
        <p:sp>
          <p:nvSpPr>
            <p:cNvPr id="324" name="Google Shape;324;p36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36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36"/>
          <p:cNvSpPr/>
          <p:nvPr/>
        </p:nvSpPr>
        <p:spPr>
          <a:xfrm>
            <a:off x="7658914" y="4708699"/>
            <a:ext cx="155839" cy="159260"/>
          </a:xfrm>
          <a:custGeom>
            <a:rect b="b" l="l" r="r" t="t"/>
            <a:pathLst>
              <a:path extrusionOk="0" h="505587" w="494728">
                <a:moveTo>
                  <a:pt x="294418" y="214122"/>
                </a:moveTo>
                <a:lnTo>
                  <a:pt x="478631" y="0"/>
                </a:lnTo>
                <a:lnTo>
                  <a:pt x="435007" y="0"/>
                </a:lnTo>
                <a:lnTo>
                  <a:pt x="275082" y="185928"/>
                </a:lnTo>
                <a:lnTo>
                  <a:pt x="147352" y="0"/>
                </a:lnTo>
                <a:lnTo>
                  <a:pt x="0" y="0"/>
                </a:lnTo>
                <a:lnTo>
                  <a:pt x="193167" y="281083"/>
                </a:lnTo>
                <a:lnTo>
                  <a:pt x="0" y="505587"/>
                </a:lnTo>
                <a:lnTo>
                  <a:pt x="43625" y="505587"/>
                </a:lnTo>
                <a:lnTo>
                  <a:pt x="212503" y="309277"/>
                </a:lnTo>
                <a:lnTo>
                  <a:pt x="347377" y="505587"/>
                </a:lnTo>
                <a:lnTo>
                  <a:pt x="494729" y="505587"/>
                </a:lnTo>
                <a:lnTo>
                  <a:pt x="294418" y="214027"/>
                </a:lnTo>
                <a:lnTo>
                  <a:pt x="294418" y="214027"/>
                </a:lnTo>
                <a:close/>
                <a:moveTo>
                  <a:pt x="234601" y="283655"/>
                </a:moveTo>
                <a:lnTo>
                  <a:pt x="215075" y="255651"/>
                </a:lnTo>
                <a:lnTo>
                  <a:pt x="59341" y="32861"/>
                </a:lnTo>
                <a:lnTo>
                  <a:pt x="126397" y="32861"/>
                </a:lnTo>
                <a:lnTo>
                  <a:pt x="252032" y="212598"/>
                </a:lnTo>
                <a:lnTo>
                  <a:pt x="271558" y="240601"/>
                </a:lnTo>
                <a:lnTo>
                  <a:pt x="434912" y="474250"/>
                </a:lnTo>
                <a:lnTo>
                  <a:pt x="367855" y="474250"/>
                </a:lnTo>
                <a:lnTo>
                  <a:pt x="234505" y="283559"/>
                </a:lnTo>
                <a:lnTo>
                  <a:pt x="234505" y="28355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5825" lIns="71700" spcFirstLastPara="1" rIns="71700" wrap="square" tIns="35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36" title="656efcb6445d47000166f39e_BRC-20 Tokens-1600 900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086" l="0" r="0" t="29086"/>
          <a:stretch/>
        </p:blipFill>
        <p:spPr>
          <a:xfrm>
            <a:off x="228450" y="2962650"/>
            <a:ext cx="8687100" cy="204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/>
          <p:nvPr>
            <p:ph type="title"/>
          </p:nvPr>
        </p:nvSpPr>
        <p:spPr>
          <a:xfrm>
            <a:off x="726600" y="2717700"/>
            <a:ext cx="7690800" cy="171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0"/>
              <a:t>Thank You</a:t>
            </a:r>
            <a:r>
              <a:rPr lang="en" sz="10000"/>
              <a:t> !</a:t>
            </a:r>
            <a:endParaRPr sz="5000"/>
          </a:p>
        </p:txBody>
      </p:sp>
      <p:sp>
        <p:nvSpPr>
          <p:cNvPr id="334" name="Google Shape;334;p37"/>
          <p:cNvSpPr/>
          <p:nvPr/>
        </p:nvSpPr>
        <p:spPr>
          <a:xfrm>
            <a:off x="7059663" y="4618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7"/>
          <p:cNvSpPr/>
          <p:nvPr/>
        </p:nvSpPr>
        <p:spPr>
          <a:xfrm>
            <a:off x="8071288" y="4618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7"/>
          <p:cNvSpPr/>
          <p:nvPr/>
        </p:nvSpPr>
        <p:spPr>
          <a:xfrm>
            <a:off x="7565475" y="4617924"/>
            <a:ext cx="343200" cy="343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1700" lIns="71700" spcFirstLastPara="1" rIns="71700" wrap="square" tIns="71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7" name="Google Shape;337;p37"/>
          <p:cNvGrpSpPr/>
          <p:nvPr/>
        </p:nvGrpSpPr>
        <p:grpSpPr>
          <a:xfrm>
            <a:off x="7128105" y="4681287"/>
            <a:ext cx="216482" cy="216461"/>
            <a:chOff x="3368074" y="3882537"/>
            <a:chExt cx="215298" cy="215298"/>
          </a:xfrm>
        </p:grpSpPr>
        <p:sp>
          <p:nvSpPr>
            <p:cNvPr id="338" name="Google Shape;338;p37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7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7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1" name="Google Shape;341;p37"/>
          <p:cNvGrpSpPr/>
          <p:nvPr/>
        </p:nvGrpSpPr>
        <p:grpSpPr>
          <a:xfrm>
            <a:off x="8138297" y="4695960"/>
            <a:ext cx="209249" cy="187115"/>
            <a:chOff x="3824739" y="3890112"/>
            <a:chExt cx="208105" cy="186110"/>
          </a:xfrm>
        </p:grpSpPr>
        <p:sp>
          <p:nvSpPr>
            <p:cNvPr id="342" name="Google Shape;342;p37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37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37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71700" lIns="71700" spcFirstLastPara="1" rIns="71700" wrap="square" tIns="717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37"/>
          <p:cNvSpPr/>
          <p:nvPr/>
        </p:nvSpPr>
        <p:spPr>
          <a:xfrm>
            <a:off x="7658914" y="4708699"/>
            <a:ext cx="155839" cy="159260"/>
          </a:xfrm>
          <a:custGeom>
            <a:rect b="b" l="l" r="r" t="t"/>
            <a:pathLst>
              <a:path extrusionOk="0" h="505587" w="494728">
                <a:moveTo>
                  <a:pt x="294418" y="214122"/>
                </a:moveTo>
                <a:lnTo>
                  <a:pt x="478631" y="0"/>
                </a:lnTo>
                <a:lnTo>
                  <a:pt x="435007" y="0"/>
                </a:lnTo>
                <a:lnTo>
                  <a:pt x="275082" y="185928"/>
                </a:lnTo>
                <a:lnTo>
                  <a:pt x="147352" y="0"/>
                </a:lnTo>
                <a:lnTo>
                  <a:pt x="0" y="0"/>
                </a:lnTo>
                <a:lnTo>
                  <a:pt x="193167" y="281083"/>
                </a:lnTo>
                <a:lnTo>
                  <a:pt x="0" y="505587"/>
                </a:lnTo>
                <a:lnTo>
                  <a:pt x="43625" y="505587"/>
                </a:lnTo>
                <a:lnTo>
                  <a:pt x="212503" y="309277"/>
                </a:lnTo>
                <a:lnTo>
                  <a:pt x="347377" y="505587"/>
                </a:lnTo>
                <a:lnTo>
                  <a:pt x="494729" y="505587"/>
                </a:lnTo>
                <a:lnTo>
                  <a:pt x="294418" y="214027"/>
                </a:lnTo>
                <a:lnTo>
                  <a:pt x="294418" y="214027"/>
                </a:lnTo>
                <a:close/>
                <a:moveTo>
                  <a:pt x="234601" y="283655"/>
                </a:moveTo>
                <a:lnTo>
                  <a:pt x="215075" y="255651"/>
                </a:lnTo>
                <a:lnTo>
                  <a:pt x="59341" y="32861"/>
                </a:lnTo>
                <a:lnTo>
                  <a:pt x="126397" y="32861"/>
                </a:lnTo>
                <a:lnTo>
                  <a:pt x="252032" y="212598"/>
                </a:lnTo>
                <a:lnTo>
                  <a:pt x="271558" y="240601"/>
                </a:lnTo>
                <a:lnTo>
                  <a:pt x="434912" y="474250"/>
                </a:lnTo>
                <a:lnTo>
                  <a:pt x="367855" y="474250"/>
                </a:lnTo>
                <a:lnTo>
                  <a:pt x="234505" y="283559"/>
                </a:lnTo>
                <a:lnTo>
                  <a:pt x="234505" y="283559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35825" lIns="71700" spcFirstLastPara="1" rIns="71700" wrap="square" tIns="358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1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6" name="Google Shape;346;p37" title="65e9997df9978e0001e85481_1600-900-Bridging-the-Gap-An-In-Depth-Guide-to-Blockchain-Bridges (1)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29086" l="0" r="0" t="29086"/>
          <a:stretch/>
        </p:blipFill>
        <p:spPr>
          <a:xfrm>
            <a:off x="228450" y="400000"/>
            <a:ext cx="8687100" cy="2043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roject roadmaps by Slidesgo">
  <a:themeElements>
    <a:clrScheme name="Simple Light">
      <a:dk1>
        <a:srgbClr val="161616"/>
      </a:dk1>
      <a:lt1>
        <a:srgbClr val="F0F0F0"/>
      </a:lt1>
      <a:dk2>
        <a:srgbClr val="161616"/>
      </a:dk2>
      <a:lt2>
        <a:srgbClr val="C2C2C2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6161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