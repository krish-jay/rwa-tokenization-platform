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6858000" cy="9144000"/>
  <p:embeddedFontLst>
    <p:embeddedFont>
      <p:font typeface="Raleway"/>
      <p:regular r:id="rId18"/>
      <p:bold r:id="rId19"/>
      <p:italic r:id="rId20"/>
      <p:boldItalic r:id="rId21"/>
    </p:embeddedFont>
    <p:embeddedFont>
      <p:font typeface="Afacad Flux"/>
      <p:regular r:id="rId22"/>
      <p:bold r:id="rId23"/>
    </p:embeddedFont>
    <p:embeddedFont>
      <p:font typeface="Heebo"/>
      <p:regular r:id="rId24"/>
      <p:bold r:id="rId25"/>
    </p:embeddedFont>
    <p:embeddedFont>
      <p:font typeface="Bricolage Grotesque ExtraLight"/>
      <p:regular r:id="rId26"/>
      <p:bold r:id="rId27"/>
    </p:embeddedFont>
    <p:embeddedFont>
      <p:font typeface="Anaheim"/>
      <p:regular r:id="rId28"/>
      <p:bold r:id="rId29"/>
    </p:embeddedFont>
    <p:embeddedFont>
      <p:font typeface="Bricolage Grotesque"/>
      <p:regular r:id="rId30"/>
      <p:bold r:id="rId31"/>
    </p:embeddedFont>
    <p:embeddedFont>
      <p:font typeface="Bricolage Grotesque Medium"/>
      <p:regular r:id="rId32"/>
      <p:bold r:id="rId33"/>
    </p:embeddedFont>
    <p:embeddedFont>
      <p:font typeface="Open Sans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italic.fntdata"/><Relationship Id="rId22" Type="http://schemas.openxmlformats.org/officeDocument/2006/relationships/font" Target="fonts/AfacadFlux-regular.fntdata"/><Relationship Id="rId21" Type="http://schemas.openxmlformats.org/officeDocument/2006/relationships/font" Target="fonts/Raleway-boldItalic.fntdata"/><Relationship Id="rId24" Type="http://schemas.openxmlformats.org/officeDocument/2006/relationships/font" Target="fonts/Heebo-regular.fntdata"/><Relationship Id="rId23" Type="http://schemas.openxmlformats.org/officeDocument/2006/relationships/font" Target="fonts/AfacadFlux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BricolageGrotesqueExtraLight-regular.fntdata"/><Relationship Id="rId25" Type="http://schemas.openxmlformats.org/officeDocument/2006/relationships/font" Target="fonts/Heebo-bold.fntdata"/><Relationship Id="rId28" Type="http://schemas.openxmlformats.org/officeDocument/2006/relationships/font" Target="fonts/Anaheim-regular.fntdata"/><Relationship Id="rId27" Type="http://schemas.openxmlformats.org/officeDocument/2006/relationships/font" Target="fonts/BricolageGrotesqueExtraLight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Anaheim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BricolageGrotesque-bold.fntdata"/><Relationship Id="rId30" Type="http://schemas.openxmlformats.org/officeDocument/2006/relationships/font" Target="fonts/BricolageGrotesque-regular.fntdata"/><Relationship Id="rId11" Type="http://schemas.openxmlformats.org/officeDocument/2006/relationships/slide" Target="slides/slide7.xml"/><Relationship Id="rId33" Type="http://schemas.openxmlformats.org/officeDocument/2006/relationships/font" Target="fonts/BricolageGrotesqueMedium-bold.fntdata"/><Relationship Id="rId10" Type="http://schemas.openxmlformats.org/officeDocument/2006/relationships/slide" Target="slides/slide6.xml"/><Relationship Id="rId32" Type="http://schemas.openxmlformats.org/officeDocument/2006/relationships/font" Target="fonts/BricolageGrotesqueMedium-regular.fntdata"/><Relationship Id="rId13" Type="http://schemas.openxmlformats.org/officeDocument/2006/relationships/slide" Target="slides/slide9.xml"/><Relationship Id="rId35" Type="http://schemas.openxmlformats.org/officeDocument/2006/relationships/font" Target="fonts/OpenSans-bold.fntdata"/><Relationship Id="rId12" Type="http://schemas.openxmlformats.org/officeDocument/2006/relationships/slide" Target="slides/slide8.xml"/><Relationship Id="rId34" Type="http://schemas.openxmlformats.org/officeDocument/2006/relationships/font" Target="fonts/OpenSans-regular.fntdata"/><Relationship Id="rId15" Type="http://schemas.openxmlformats.org/officeDocument/2006/relationships/slide" Target="slides/slide11.xml"/><Relationship Id="rId37" Type="http://schemas.openxmlformats.org/officeDocument/2006/relationships/font" Target="fonts/OpenSans-boldItalic.fntdata"/><Relationship Id="rId14" Type="http://schemas.openxmlformats.org/officeDocument/2006/relationships/slide" Target="slides/slide10.xml"/><Relationship Id="rId36" Type="http://schemas.openxmlformats.org/officeDocument/2006/relationships/font" Target="fonts/OpenSans-italic.fntdata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font" Target="fonts/Raleway-bold.fntdata"/><Relationship Id="rId18" Type="http://schemas.openxmlformats.org/officeDocument/2006/relationships/font" Target="fonts/Raleway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d431007ba2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d431007ba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54dda1946d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54dda1946d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54dda1946d_6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54dda1946d_6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54dda1946d_6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54dda1946d_6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54dda1946d_6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54dda1946d_6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997af2fcc2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997af2fcc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54dda1946d_6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54dda1946d_6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d5260bdd85_0_2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d5260bdd85_0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b8d636df11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b8d636df11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b8d636df1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b8d636df1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d5260bdd85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d5260bdd85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35e18421cc_1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35e18421cc_1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2854200"/>
            <a:ext cx="72864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4572000" y="1143439"/>
            <a:ext cx="1323600" cy="11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Heebo"/>
              <a:buNone/>
              <a:defRPr sz="1600">
                <a:latin typeface="Heebo"/>
                <a:ea typeface="Heebo"/>
                <a:cs typeface="Heebo"/>
                <a:sym typeface="Heeb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3336550"/>
            <a:ext cx="6522900" cy="15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6751500" y="827594"/>
            <a:ext cx="1652100" cy="1211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0" sz="8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228600" y="2286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228600" y="999327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228750" y="228600"/>
            <a:ext cx="2591700" cy="23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subTitle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2" type="subTitle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3" type="subTitle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4" type="subTitle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228600" y="4148475"/>
            <a:ext cx="4835100" cy="7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type="title"/>
          </p:nvPr>
        </p:nvSpPr>
        <p:spPr>
          <a:xfrm>
            <a:off x="228600" y="228600"/>
            <a:ext cx="3594000" cy="9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hasCustomPrompt="1" idx="2" type="title"/>
          </p:nvPr>
        </p:nvSpPr>
        <p:spPr>
          <a:xfrm>
            <a:off x="228719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/>
          <p:nvPr>
            <p:ph idx="1" type="subTitle"/>
          </p:nvPr>
        </p:nvSpPr>
        <p:spPr>
          <a:xfrm>
            <a:off x="228600" y="1157700"/>
            <a:ext cx="3594000" cy="805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hasCustomPrompt="1" idx="3" type="title"/>
          </p:nvPr>
        </p:nvSpPr>
        <p:spPr>
          <a:xfrm>
            <a:off x="6515091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1" name="Google Shape;41;p11"/>
          <p:cNvSpPr txBox="1"/>
          <p:nvPr>
            <p:ph hasCustomPrompt="1" idx="4" type="title"/>
          </p:nvPr>
        </p:nvSpPr>
        <p:spPr>
          <a:xfrm>
            <a:off x="3371760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/>
          <p:nvPr>
            <p:ph idx="5" type="subTitle"/>
          </p:nvPr>
        </p:nvSpPr>
        <p:spPr>
          <a:xfrm>
            <a:off x="22860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6" type="subTitle"/>
          </p:nvPr>
        </p:nvSpPr>
        <p:spPr>
          <a:xfrm>
            <a:off x="6514972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7" type="subTitle"/>
          </p:nvPr>
        </p:nvSpPr>
        <p:spPr>
          <a:xfrm>
            <a:off x="337164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5" name="Google Shape;45;p11"/>
          <p:cNvSpPr txBox="1"/>
          <p:nvPr>
            <p:ph hasCustomPrompt="1" idx="8" type="title"/>
          </p:nvPr>
        </p:nvSpPr>
        <p:spPr>
          <a:xfrm>
            <a:off x="6515091" y="2286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9" type="subTitle"/>
          </p:nvPr>
        </p:nvSpPr>
        <p:spPr>
          <a:xfrm>
            <a:off x="6514972" y="14311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228600" y="3322775"/>
            <a:ext cx="3429000" cy="15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hasCustomPrompt="1" idx="2" type="title"/>
          </p:nvPr>
        </p:nvSpPr>
        <p:spPr>
          <a:xfrm>
            <a:off x="1588833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" name="Google Shape;51;p13"/>
          <p:cNvSpPr txBox="1"/>
          <p:nvPr>
            <p:ph idx="1" type="subTitle"/>
          </p:nvPr>
        </p:nvSpPr>
        <p:spPr>
          <a:xfrm>
            <a:off x="1562777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hasCustomPrompt="1" idx="3" type="title"/>
          </p:nvPr>
        </p:nvSpPr>
        <p:spPr>
          <a:xfrm>
            <a:off x="228592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3" name="Google Shape;53;p13"/>
          <p:cNvSpPr txBox="1"/>
          <p:nvPr>
            <p:ph idx="4" type="subTitle"/>
          </p:nvPr>
        </p:nvSpPr>
        <p:spPr>
          <a:xfrm>
            <a:off x="228598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hasCustomPrompt="1" idx="5" type="title"/>
          </p:nvPr>
        </p:nvSpPr>
        <p:spPr>
          <a:xfrm>
            <a:off x="3898029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/>
          <p:nvPr>
            <p:ph idx="6" type="subTitle"/>
          </p:nvPr>
        </p:nvSpPr>
        <p:spPr>
          <a:xfrm>
            <a:off x="38980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hasCustomPrompt="1" idx="7" type="title"/>
          </p:nvPr>
        </p:nvSpPr>
        <p:spPr>
          <a:xfrm>
            <a:off x="6207225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/>
          <p:nvPr>
            <p:ph idx="8" type="subTitle"/>
          </p:nvPr>
        </p:nvSpPr>
        <p:spPr>
          <a:xfrm>
            <a:off x="62072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hasCustomPrompt="1" idx="9" type="title"/>
          </p:nvPr>
        </p:nvSpPr>
        <p:spPr>
          <a:xfrm>
            <a:off x="2537808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/>
          <p:nvPr>
            <p:ph idx="13" type="subTitle"/>
          </p:nvPr>
        </p:nvSpPr>
        <p:spPr>
          <a:xfrm>
            <a:off x="2537802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hasCustomPrompt="1" idx="14" type="title"/>
          </p:nvPr>
        </p:nvSpPr>
        <p:spPr>
          <a:xfrm>
            <a:off x="4847000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/>
          <p:nvPr>
            <p:ph idx="15" type="subTitle"/>
          </p:nvPr>
        </p:nvSpPr>
        <p:spPr>
          <a:xfrm>
            <a:off x="48470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hasCustomPrompt="1" idx="16" type="title"/>
          </p:nvPr>
        </p:nvSpPr>
        <p:spPr>
          <a:xfrm>
            <a:off x="3898017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/>
          <p:nvPr>
            <p:ph idx="17" type="subTitle"/>
          </p:nvPr>
        </p:nvSpPr>
        <p:spPr>
          <a:xfrm>
            <a:off x="3898023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hasCustomPrompt="1" idx="18" type="title"/>
          </p:nvPr>
        </p:nvSpPr>
        <p:spPr>
          <a:xfrm>
            <a:off x="6671900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/>
          <p:nvPr>
            <p:ph idx="19" type="subTitle"/>
          </p:nvPr>
        </p:nvSpPr>
        <p:spPr>
          <a:xfrm>
            <a:off x="6671900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68" name="Google Shape;68;p14"/>
          <p:cNvSpPr txBox="1"/>
          <p:nvPr>
            <p:ph idx="1" type="subTitle"/>
          </p:nvPr>
        </p:nvSpPr>
        <p:spPr>
          <a:xfrm>
            <a:off x="4517000" y="228600"/>
            <a:ext cx="3078300" cy="32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228600" y="554398"/>
            <a:ext cx="3201600" cy="197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1" name="Google Shape;71;p15"/>
          <p:cNvSpPr/>
          <p:nvPr>
            <p:ph idx="2" type="pic"/>
          </p:nvPr>
        </p:nvSpPr>
        <p:spPr>
          <a:xfrm>
            <a:off x="228600" y="2871425"/>
            <a:ext cx="8687100" cy="20439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5"/>
          <p:cNvSpPr txBox="1"/>
          <p:nvPr>
            <p:ph idx="1" type="subTitle"/>
          </p:nvPr>
        </p:nvSpPr>
        <p:spPr>
          <a:xfrm>
            <a:off x="3995400" y="228600"/>
            <a:ext cx="4920300" cy="220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hasCustomPrompt="1"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79" name="Google Shape;79;p16"/>
          <p:cNvSpPr txBox="1"/>
          <p:nvPr>
            <p:ph hasCustomPrompt="1"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p16"/>
          <p:cNvSpPr txBox="1"/>
          <p:nvPr>
            <p:ph hasCustomPrompt="1"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6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3" name="Google Shape;83;p16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228600" y="1159200"/>
            <a:ext cx="3248700" cy="282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86" name="Google Shape;86;p17"/>
          <p:cNvSpPr txBox="1"/>
          <p:nvPr>
            <p:ph idx="1" type="subTitle"/>
          </p:nvPr>
        </p:nvSpPr>
        <p:spPr>
          <a:xfrm>
            <a:off x="5061325" y="647121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2" type="subTitle"/>
          </p:nvPr>
        </p:nvSpPr>
        <p:spPr>
          <a:xfrm>
            <a:off x="5061325" y="228675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hasCustomPrompt="1" idx="3" type="title"/>
          </p:nvPr>
        </p:nvSpPr>
        <p:spPr>
          <a:xfrm>
            <a:off x="4500325" y="228595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7"/>
          <p:cNvSpPr txBox="1"/>
          <p:nvPr>
            <p:ph idx="4" type="subTitle"/>
          </p:nvPr>
        </p:nvSpPr>
        <p:spPr>
          <a:xfrm>
            <a:off x="5061325" y="1871014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5" type="subTitle"/>
          </p:nvPr>
        </p:nvSpPr>
        <p:spPr>
          <a:xfrm>
            <a:off x="5061325" y="1452568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hasCustomPrompt="1" idx="6" type="title"/>
          </p:nvPr>
        </p:nvSpPr>
        <p:spPr>
          <a:xfrm>
            <a:off x="4500325" y="1452487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7"/>
          <p:cNvSpPr txBox="1"/>
          <p:nvPr>
            <p:ph idx="7" type="subTitle"/>
          </p:nvPr>
        </p:nvSpPr>
        <p:spPr>
          <a:xfrm>
            <a:off x="5061325" y="3094907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8" type="subTitle"/>
          </p:nvPr>
        </p:nvSpPr>
        <p:spPr>
          <a:xfrm>
            <a:off x="5061325" y="2676461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4" name="Google Shape;94;p17"/>
          <p:cNvSpPr txBox="1"/>
          <p:nvPr>
            <p:ph hasCustomPrompt="1" idx="9" type="title"/>
          </p:nvPr>
        </p:nvSpPr>
        <p:spPr>
          <a:xfrm>
            <a:off x="4500325" y="2676378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7"/>
          <p:cNvSpPr txBox="1"/>
          <p:nvPr>
            <p:ph idx="13" type="subTitle"/>
          </p:nvPr>
        </p:nvSpPr>
        <p:spPr>
          <a:xfrm>
            <a:off x="5061325" y="4318799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4" type="subTitle"/>
          </p:nvPr>
        </p:nvSpPr>
        <p:spPr>
          <a:xfrm>
            <a:off x="5061325" y="3900353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hasCustomPrompt="1" idx="15" type="title"/>
          </p:nvPr>
        </p:nvSpPr>
        <p:spPr>
          <a:xfrm>
            <a:off x="4500325" y="3900270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054850" y="3056150"/>
            <a:ext cx="5860500" cy="183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" type="subTitle"/>
          </p:nvPr>
        </p:nvSpPr>
        <p:spPr>
          <a:xfrm>
            <a:off x="4425843" y="228611"/>
            <a:ext cx="2490900" cy="1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/>
        </p:nvSpPr>
        <p:spPr>
          <a:xfrm>
            <a:off x="228600" y="2803984"/>
            <a:ext cx="2572200" cy="6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This presentation template was created by </a:t>
            </a:r>
            <a:r>
              <a:rPr b="1" lang="en" sz="1000" u="sng">
                <a:solidFill>
                  <a:schemeClr val="hlink"/>
                </a:solidFill>
                <a:latin typeface="Heebo"/>
                <a:ea typeface="Heebo"/>
                <a:cs typeface="Heebo"/>
                <a:sym typeface="Heebo"/>
                <a:hlinkClick r:id="rId2"/>
              </a:rPr>
              <a:t>Slidesgo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endParaRPr b="1" sz="1000" u="sng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21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Bricolage Grotesque"/>
              <a:buNone/>
              <a:defRPr b="1" sz="4500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28600" y="936050"/>
            <a:ext cx="86868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/>
          <p:nvPr>
            <p:ph type="ctrTitle"/>
          </p:nvPr>
        </p:nvSpPr>
        <p:spPr>
          <a:xfrm>
            <a:off x="228600" y="2854200"/>
            <a:ext cx="81537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/>
              <a:t>Real-World Assets</a:t>
            </a:r>
            <a:r>
              <a:rPr lang="en" sz="3000"/>
              <a:t> </a:t>
            </a:r>
            <a:r>
              <a:rPr lang="en" sz="10000"/>
              <a:t>Tokenization</a:t>
            </a:r>
            <a:endParaRPr sz="10000"/>
          </a:p>
        </p:txBody>
      </p:sp>
      <p:sp>
        <p:nvSpPr>
          <p:cNvPr id="111" name="Google Shape;111;p22"/>
          <p:cNvSpPr txBox="1"/>
          <p:nvPr>
            <p:ph idx="1" type="subTitle"/>
          </p:nvPr>
        </p:nvSpPr>
        <p:spPr>
          <a:xfrm>
            <a:off x="4572000" y="1143450"/>
            <a:ext cx="2943000" cy="75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RWA Tokenization Platform</a:t>
            </a:r>
            <a:br>
              <a:rPr lang="en"/>
            </a:br>
            <a:r>
              <a:rPr lang="en"/>
              <a:t>Secure, Compliant, Production-Ready Architecture for Real-World Assets</a:t>
            </a:r>
            <a:endParaRPr/>
          </a:p>
        </p:txBody>
      </p:sp>
      <p:sp>
        <p:nvSpPr>
          <p:cNvPr id="112" name="Google Shape;112;p22"/>
          <p:cNvSpPr txBox="1"/>
          <p:nvPr/>
        </p:nvSpPr>
        <p:spPr>
          <a:xfrm>
            <a:off x="6353050" y="228600"/>
            <a:ext cx="2088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Marketnode</a:t>
            </a:r>
            <a:endParaRPr sz="10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13" name="Google Shape;113;p22"/>
          <p:cNvSpPr txBox="1"/>
          <p:nvPr/>
        </p:nvSpPr>
        <p:spPr>
          <a:xfrm>
            <a:off x="7689000" y="228600"/>
            <a:ext cx="1098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2026</a:t>
            </a:r>
            <a:endParaRPr sz="10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/>
          <p:nvPr>
            <p:ph type="title"/>
          </p:nvPr>
        </p:nvSpPr>
        <p:spPr>
          <a:xfrm>
            <a:off x="228600" y="3322775"/>
            <a:ext cx="3429000" cy="15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r>
              <a:rPr lang="en"/>
              <a:t>able of contents</a:t>
            </a:r>
            <a:endParaRPr/>
          </a:p>
        </p:txBody>
      </p:sp>
      <p:sp>
        <p:nvSpPr>
          <p:cNvPr id="119" name="Google Shape;119;p23"/>
          <p:cNvSpPr txBox="1"/>
          <p:nvPr>
            <p:ph idx="1" type="subTitle"/>
          </p:nvPr>
        </p:nvSpPr>
        <p:spPr>
          <a:xfrm>
            <a:off x="1562777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</a:t>
            </a:r>
            <a:r>
              <a:rPr lang="en"/>
              <a:t>overview</a:t>
            </a:r>
            <a:endParaRPr/>
          </a:p>
        </p:txBody>
      </p:sp>
      <p:sp>
        <p:nvSpPr>
          <p:cNvPr id="120" name="Google Shape;120;p23"/>
          <p:cNvSpPr txBox="1"/>
          <p:nvPr>
            <p:ph idx="2" type="title"/>
          </p:nvPr>
        </p:nvSpPr>
        <p:spPr>
          <a:xfrm>
            <a:off x="1588833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" name="Google Shape;121;p23"/>
          <p:cNvSpPr txBox="1"/>
          <p:nvPr>
            <p:ph idx="3" type="title"/>
          </p:nvPr>
        </p:nvSpPr>
        <p:spPr>
          <a:xfrm>
            <a:off x="522314" y="1533140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2" name="Google Shape;122;p23"/>
          <p:cNvSpPr txBox="1"/>
          <p:nvPr>
            <p:ph idx="4" type="subTitle"/>
          </p:nvPr>
        </p:nvSpPr>
        <p:spPr>
          <a:xfrm>
            <a:off x="522320" y="17776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 Design</a:t>
            </a:r>
            <a:endParaRPr/>
          </a:p>
        </p:txBody>
      </p:sp>
      <p:sp>
        <p:nvSpPr>
          <p:cNvPr id="123" name="Google Shape;123;p23"/>
          <p:cNvSpPr txBox="1"/>
          <p:nvPr>
            <p:ph idx="5" type="title"/>
          </p:nvPr>
        </p:nvSpPr>
        <p:spPr>
          <a:xfrm>
            <a:off x="3898029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4" name="Google Shape;124;p23"/>
          <p:cNvSpPr txBox="1"/>
          <p:nvPr>
            <p:ph idx="6" type="subTitle"/>
          </p:nvPr>
        </p:nvSpPr>
        <p:spPr>
          <a:xfrm>
            <a:off x="38980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Situation</a:t>
            </a:r>
            <a:endParaRPr/>
          </a:p>
        </p:txBody>
      </p:sp>
      <p:sp>
        <p:nvSpPr>
          <p:cNvPr id="125" name="Google Shape;125;p23"/>
          <p:cNvSpPr txBox="1"/>
          <p:nvPr>
            <p:ph idx="7" type="title"/>
          </p:nvPr>
        </p:nvSpPr>
        <p:spPr>
          <a:xfrm>
            <a:off x="6207225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6" name="Google Shape;126;p23"/>
          <p:cNvSpPr txBox="1"/>
          <p:nvPr>
            <p:ph idx="8" type="subTitle"/>
          </p:nvPr>
        </p:nvSpPr>
        <p:spPr>
          <a:xfrm>
            <a:off x="62072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 &amp; Mission</a:t>
            </a:r>
            <a:endParaRPr/>
          </a:p>
        </p:txBody>
      </p:sp>
      <p:sp>
        <p:nvSpPr>
          <p:cNvPr id="127" name="Google Shape;127;p23"/>
          <p:cNvSpPr txBox="1"/>
          <p:nvPr>
            <p:ph idx="9" type="title"/>
          </p:nvPr>
        </p:nvSpPr>
        <p:spPr>
          <a:xfrm>
            <a:off x="2537808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28" name="Google Shape;128;p23"/>
          <p:cNvSpPr txBox="1"/>
          <p:nvPr>
            <p:ph idx="13" type="subTitle"/>
          </p:nvPr>
        </p:nvSpPr>
        <p:spPr>
          <a:xfrm>
            <a:off x="2537800" y="1738025"/>
            <a:ext cx="19029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 Contract Design</a:t>
            </a:r>
            <a:endParaRPr/>
          </a:p>
        </p:txBody>
      </p:sp>
      <p:sp>
        <p:nvSpPr>
          <p:cNvPr id="129" name="Google Shape;129;p23"/>
          <p:cNvSpPr txBox="1"/>
          <p:nvPr>
            <p:ph idx="14" type="title"/>
          </p:nvPr>
        </p:nvSpPr>
        <p:spPr>
          <a:xfrm>
            <a:off x="5062700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30" name="Google Shape;130;p23"/>
          <p:cNvSpPr txBox="1"/>
          <p:nvPr>
            <p:ph idx="15" type="subTitle"/>
          </p:nvPr>
        </p:nvSpPr>
        <p:spPr>
          <a:xfrm>
            <a:off x="50627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Model</a:t>
            </a:r>
            <a:endParaRPr/>
          </a:p>
        </p:txBody>
      </p:sp>
      <p:sp>
        <p:nvSpPr>
          <p:cNvPr id="131" name="Google Shape;131;p23"/>
          <p:cNvSpPr txBox="1"/>
          <p:nvPr>
            <p:ph idx="16" type="title"/>
          </p:nvPr>
        </p:nvSpPr>
        <p:spPr>
          <a:xfrm>
            <a:off x="3294642" y="274462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32" name="Google Shape;132;p23"/>
          <p:cNvSpPr txBox="1"/>
          <p:nvPr>
            <p:ph idx="17" type="subTitle"/>
          </p:nvPr>
        </p:nvSpPr>
        <p:spPr>
          <a:xfrm>
            <a:off x="3294648" y="29891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Security Framework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3"/>
          <p:cNvSpPr txBox="1"/>
          <p:nvPr>
            <p:ph idx="18" type="title"/>
          </p:nvPr>
        </p:nvSpPr>
        <p:spPr>
          <a:xfrm>
            <a:off x="5250025" y="274461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134" name="Google Shape;134;p23"/>
          <p:cNvSpPr txBox="1"/>
          <p:nvPr>
            <p:ph idx="19" type="subTitle"/>
          </p:nvPr>
        </p:nvSpPr>
        <p:spPr>
          <a:xfrm>
            <a:off x="5250025" y="2989088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Privacy</a:t>
            </a:r>
            <a:endParaRPr/>
          </a:p>
        </p:txBody>
      </p:sp>
      <p:sp>
        <p:nvSpPr>
          <p:cNvPr id="135" name="Google Shape;135;p23"/>
          <p:cNvSpPr txBox="1"/>
          <p:nvPr>
            <p:ph idx="16" type="title"/>
          </p:nvPr>
        </p:nvSpPr>
        <p:spPr>
          <a:xfrm>
            <a:off x="4331942" y="389672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136" name="Google Shape;136;p23"/>
          <p:cNvSpPr txBox="1"/>
          <p:nvPr>
            <p:ph idx="17" type="subTitle"/>
          </p:nvPr>
        </p:nvSpPr>
        <p:spPr>
          <a:xfrm>
            <a:off x="4331948" y="41412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Summary</a:t>
            </a:r>
            <a:endParaRPr/>
          </a:p>
        </p:txBody>
      </p:sp>
      <p:sp>
        <p:nvSpPr>
          <p:cNvPr id="137" name="Google Shape;137;p23"/>
          <p:cNvSpPr txBox="1"/>
          <p:nvPr>
            <p:ph idx="14" type="title"/>
          </p:nvPr>
        </p:nvSpPr>
        <p:spPr>
          <a:xfrm>
            <a:off x="7045000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38" name="Google Shape;138;p23"/>
          <p:cNvSpPr txBox="1"/>
          <p:nvPr>
            <p:ph idx="15" type="subTitle"/>
          </p:nvPr>
        </p:nvSpPr>
        <p:spPr>
          <a:xfrm>
            <a:off x="70450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Key Design Decisions</a:t>
            </a:r>
            <a:endParaRPr/>
          </a:p>
        </p:txBody>
      </p:sp>
      <p:sp>
        <p:nvSpPr>
          <p:cNvPr id="139" name="Google Shape;139;p23"/>
          <p:cNvSpPr txBox="1"/>
          <p:nvPr>
            <p:ph idx="18" type="title"/>
          </p:nvPr>
        </p:nvSpPr>
        <p:spPr>
          <a:xfrm>
            <a:off x="6957625" y="2744637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40" name="Google Shape;140;p23"/>
          <p:cNvSpPr txBox="1"/>
          <p:nvPr>
            <p:ph idx="19" type="subTitle"/>
          </p:nvPr>
        </p:nvSpPr>
        <p:spPr>
          <a:xfrm>
            <a:off x="6957625" y="2989113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 &amp; Challenges</a:t>
            </a:r>
            <a:endParaRPr/>
          </a:p>
        </p:txBody>
      </p:sp>
      <p:sp>
        <p:nvSpPr>
          <p:cNvPr id="141" name="Google Shape;141;p23"/>
          <p:cNvSpPr txBox="1"/>
          <p:nvPr>
            <p:ph idx="16" type="title"/>
          </p:nvPr>
        </p:nvSpPr>
        <p:spPr>
          <a:xfrm>
            <a:off x="6511742" y="399567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142" name="Google Shape;142;p23"/>
          <p:cNvSpPr txBox="1"/>
          <p:nvPr>
            <p:ph idx="17" type="subTitle"/>
          </p:nvPr>
        </p:nvSpPr>
        <p:spPr>
          <a:xfrm>
            <a:off x="6511748" y="424015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Q&amp;A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 Overview</a:t>
            </a:r>
            <a:endParaRPr sz="4000"/>
          </a:p>
        </p:txBody>
      </p:sp>
      <p:sp>
        <p:nvSpPr>
          <p:cNvPr id="148" name="Google Shape;148;p24"/>
          <p:cNvSpPr txBox="1"/>
          <p:nvPr>
            <p:ph idx="1" type="subTitle"/>
          </p:nvPr>
        </p:nvSpPr>
        <p:spPr>
          <a:xfrm>
            <a:off x="3575175" y="335425"/>
            <a:ext cx="5222700" cy="310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Bricolage Grotesque"/>
                <a:ea typeface="Bricolage Grotesque"/>
                <a:cs typeface="Bricolage Grotesque"/>
                <a:sym typeface="Bricolage Grotesque"/>
              </a:rPr>
              <a:t>RWA Tokenization Platform</a:t>
            </a:r>
            <a:endParaRPr b="1" sz="22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Bridging Traditional Finance with Blockchain Technology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Bricolage Grotesque"/>
                <a:ea typeface="Bricolage Grotesque"/>
                <a:cs typeface="Bricolage Grotesque"/>
                <a:sym typeface="Bricolage Grotesque"/>
              </a:rPr>
              <a:t>Project Scope:</a:t>
            </a:r>
            <a:endParaRPr b="1" sz="14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 of Real-World Assets (Real Estate, Private Credit, Funds)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 compliance enforcement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Secondary market infrastructure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Institutional-grade security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Bricolage Grotesque"/>
                <a:ea typeface="Bricolage Grotesque"/>
                <a:cs typeface="Bricolage Grotesque"/>
                <a:sym typeface="Bricolage Grotesque"/>
              </a:rPr>
              <a:t>Key Features:</a:t>
            </a:r>
            <a:endParaRPr b="1" sz="14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Fractional ownership through ERC-20 tokens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Automated regulatory compliance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Multi-signature administration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Hybrid custody model (MPC + self-custody)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 txBox="1"/>
          <p:nvPr>
            <p:ph type="title"/>
          </p:nvPr>
        </p:nvSpPr>
        <p:spPr>
          <a:xfrm>
            <a:off x="228600" y="554398"/>
            <a:ext cx="3201600" cy="197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Situation</a:t>
            </a:r>
            <a:endParaRPr/>
          </a:p>
        </p:txBody>
      </p:sp>
      <p:pic>
        <p:nvPicPr>
          <p:cNvPr id="154" name="Google Shape;154;p25" title="2151871175.jp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32801" l="0" r="0" t="32801"/>
          <a:stretch/>
        </p:blipFill>
        <p:spPr>
          <a:xfrm>
            <a:off x="228600" y="2871425"/>
            <a:ext cx="8687100" cy="2043900"/>
          </a:xfrm>
          <a:prstGeom prst="rect">
            <a:avLst/>
          </a:prstGeom>
        </p:spPr>
      </p:pic>
      <p:sp>
        <p:nvSpPr>
          <p:cNvPr id="155" name="Google Shape;155;p25"/>
          <p:cNvSpPr txBox="1"/>
          <p:nvPr>
            <p:ph idx="1" type="subTitle"/>
          </p:nvPr>
        </p:nvSpPr>
        <p:spPr>
          <a:xfrm>
            <a:off x="3995400" y="554400"/>
            <a:ext cx="4920300" cy="219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Bricolage Grotesque"/>
                <a:ea typeface="Bricolage Grotesque"/>
                <a:cs typeface="Bricolage Grotesque"/>
                <a:sym typeface="Bricolage Grotesque"/>
              </a:rPr>
              <a:t>Market Problems:</a:t>
            </a:r>
            <a:endParaRPr b="1" sz="22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</a:t>
            </a:r>
            <a:r>
              <a:rPr b="1" lang="en"/>
              <a:t>iquidity:</a:t>
            </a:r>
            <a:r>
              <a:rPr lang="en"/>
              <a:t> Assets locked for years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High Minimums:</a:t>
            </a:r>
            <a:r>
              <a:rPr lang="en"/>
              <a:t> $50K+ investments required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Manual Processes:</a:t>
            </a:r>
            <a:r>
              <a:rPr lang="en"/>
              <a:t> Slow, expensive operations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Limited Access:</a:t>
            </a:r>
            <a:r>
              <a:rPr lang="en"/>
              <a:t> Geographic restrictions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Opacity:</a:t>
            </a:r>
            <a:r>
              <a:rPr lang="en"/>
              <a:t> No transparent pricing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Opportunity:</a:t>
            </a:r>
            <a:r>
              <a:rPr lang="en"/>
              <a:t> $16T+ addressable RWA market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228750" y="228600"/>
            <a:ext cx="2591700" cy="23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 &amp; Mission</a:t>
            </a:r>
            <a:endParaRPr/>
          </a:p>
        </p:txBody>
      </p:sp>
      <p:sp>
        <p:nvSpPr>
          <p:cNvPr id="161" name="Google Shape;161;p26"/>
          <p:cNvSpPr txBox="1"/>
          <p:nvPr>
            <p:ph idx="2" type="subTitle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Vision: Democratize institutional investment access via blockchain</a:t>
            </a:r>
            <a:endParaRPr/>
          </a:p>
        </p:txBody>
      </p:sp>
      <p:sp>
        <p:nvSpPr>
          <p:cNvPr id="162" name="Google Shape;162;p26"/>
          <p:cNvSpPr txBox="1"/>
          <p:nvPr>
            <p:ph idx="1" type="subTitle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Core Principles: Security First - Multi-layered protection, Compliance by Design - Regulations embedded in code, Investor Protection - Capital preservation mechanisms</a:t>
            </a:r>
            <a:endParaRPr/>
          </a:p>
        </p:txBody>
      </p:sp>
      <p:sp>
        <p:nvSpPr>
          <p:cNvPr id="163" name="Google Shape;163;p26"/>
          <p:cNvSpPr txBox="1"/>
          <p:nvPr>
            <p:ph idx="3" type="subTitle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Tokenizes assets efficiently, Embeds regulations in code, Protects investor capital, Scales globally.</a:t>
            </a:r>
            <a:endParaRPr/>
          </a:p>
        </p:txBody>
      </p:sp>
      <p:sp>
        <p:nvSpPr>
          <p:cNvPr id="164" name="Google Shape;164;p26"/>
          <p:cNvSpPr txBox="1"/>
          <p:nvPr>
            <p:ph idx="4" type="subTitle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Mission: Build secure, compliant platform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7"/>
          <p:cNvSpPr txBox="1"/>
          <p:nvPr>
            <p:ph type="title"/>
          </p:nvPr>
        </p:nvSpPr>
        <p:spPr>
          <a:xfrm>
            <a:off x="228600" y="3336550"/>
            <a:ext cx="8628600" cy="15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700"/>
              <a:t>Design</a:t>
            </a:r>
            <a:r>
              <a:rPr b="0" lang="en" sz="3400"/>
              <a:t> </a:t>
            </a:r>
            <a:r>
              <a:rPr lang="en" sz="10000"/>
              <a:t>Architecture</a:t>
            </a:r>
            <a:endParaRPr sz="10000"/>
          </a:p>
        </p:txBody>
      </p:sp>
      <p:pic>
        <p:nvPicPr>
          <p:cNvPr id="170" name="Google Shape;170;p27" title="architec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2896048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8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 Contract Design</a:t>
            </a:r>
            <a:endParaRPr/>
          </a:p>
        </p:txBody>
      </p:sp>
      <p:sp>
        <p:nvSpPr>
          <p:cNvPr id="176" name="Google Shape;176;p28"/>
          <p:cNvSpPr txBox="1"/>
          <p:nvPr/>
        </p:nvSpPr>
        <p:spPr>
          <a:xfrm>
            <a:off x="228600" y="3572675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ERC-20 with ERC-1400/ERC-3643-like feature. Most common for fractional ownership, supports compliance hooks.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77" name="Google Shape;177;p28"/>
          <p:cNvSpPr txBox="1"/>
          <p:nvPr/>
        </p:nvSpPr>
        <p:spPr>
          <a:xfrm>
            <a:off x="228600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01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cxnSp>
        <p:nvCxnSpPr>
          <p:cNvPr id="178" name="Google Shape;178;p28"/>
          <p:cNvCxnSpPr/>
          <p:nvPr/>
        </p:nvCxnSpPr>
        <p:spPr>
          <a:xfrm>
            <a:off x="231925" y="2693525"/>
            <a:ext cx="8695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9" name="Google Shape;179;p28"/>
          <p:cNvSpPr txBox="1"/>
          <p:nvPr/>
        </p:nvSpPr>
        <p:spPr>
          <a:xfrm>
            <a:off x="228600" y="2306150"/>
            <a:ext cx="15003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RWA Token (ERC-20 with hooks)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80" name="Google Shape;180;p28"/>
          <p:cNvSpPr txBox="1"/>
          <p:nvPr/>
        </p:nvSpPr>
        <p:spPr>
          <a:xfrm>
            <a:off x="2498825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On-chain allowlist + modular compliance contract. Ensures enforcement at contract level, not just backend.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81" name="Google Shape;181;p28"/>
          <p:cNvSpPr txBox="1"/>
          <p:nvPr/>
        </p:nvSpPr>
        <p:spPr>
          <a:xfrm>
            <a:off x="2498800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02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182" name="Google Shape;182;p28"/>
          <p:cNvSpPr txBox="1"/>
          <p:nvPr/>
        </p:nvSpPr>
        <p:spPr>
          <a:xfrm>
            <a:off x="2498825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Compliance Module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83" name="Google Shape;183;p28"/>
          <p:cNvSpPr txBox="1"/>
          <p:nvPr/>
        </p:nvSpPr>
        <p:spPr>
          <a:xfrm>
            <a:off x="4769000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Primary market sales ( Issuer → Platform → Due Diligence → Contract Deployment → Token Minting )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84" name="Google Shape;184;p28"/>
          <p:cNvSpPr txBox="1"/>
          <p:nvPr/>
        </p:nvSpPr>
        <p:spPr>
          <a:xfrm>
            <a:off x="4768975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03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185" name="Google Shape;185;p28"/>
          <p:cNvSpPr txBox="1"/>
          <p:nvPr/>
        </p:nvSpPr>
        <p:spPr>
          <a:xfrm>
            <a:off x="4769000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Issuance Module</a:t>
            </a:r>
            <a:endParaRPr b="1"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7039200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Dividends and redemptions.</a:t>
            </a:r>
            <a:b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</a:b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Asset and investor management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87" name="Google Shape;187;p28"/>
          <p:cNvSpPr txBox="1"/>
          <p:nvPr/>
        </p:nvSpPr>
        <p:spPr>
          <a:xfrm>
            <a:off x="7039175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04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7039200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Corporate Actions &amp; Registry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89" name="Google Shape;189;p28"/>
          <p:cNvSpPr txBox="1"/>
          <p:nvPr/>
        </p:nvSpPr>
        <p:spPr>
          <a:xfrm>
            <a:off x="290750" y="12657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Modular Architecture: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Model</a:t>
            </a:r>
            <a:endParaRPr/>
          </a:p>
        </p:txBody>
      </p:sp>
      <p:sp>
        <p:nvSpPr>
          <p:cNvPr id="195" name="Google Shape;195;p29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restrictions at contract level. Allowlist validation before any transaction. Jurisdiction encoding (country restrictions). Administrative override capabilities</a:t>
            </a:r>
            <a:endParaRPr/>
          </a:p>
        </p:txBody>
      </p:sp>
      <p:sp>
        <p:nvSpPr>
          <p:cNvPr id="196" name="Google Shape;196;p29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KYC/AML via accredited providers. Accreditation verification. Sanctions screening. Ongoing monitoring</a:t>
            </a:r>
            <a:endParaRPr/>
          </a:p>
        </p:txBody>
      </p:sp>
      <p:sp>
        <p:nvSpPr>
          <p:cNvPr id="197" name="Google Shape;197;p29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Pause/Unpause functionality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Address freezing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Forced transfers (regulatory requirements)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Audit trails for all transactions</a:t>
            </a:r>
            <a:endParaRPr/>
          </a:p>
        </p:txBody>
      </p:sp>
      <p:sp>
        <p:nvSpPr>
          <p:cNvPr id="198" name="Google Shape;198;p29"/>
          <p:cNvSpPr txBox="1"/>
          <p:nvPr>
            <p:ph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9" name="Google Shape;199;p29"/>
          <p:cNvSpPr txBox="1"/>
          <p:nvPr>
            <p:ph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29"/>
          <p:cNvSpPr txBox="1"/>
          <p:nvPr>
            <p:ph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1" name="Google Shape;201;p29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Off-Chain Verification</a:t>
            </a:r>
            <a:endParaRPr/>
          </a:p>
        </p:txBody>
      </p:sp>
      <p:sp>
        <p:nvSpPr>
          <p:cNvPr id="202" name="Google Shape;202;p29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 Enforcement:</a:t>
            </a:r>
            <a:endParaRPr/>
          </a:p>
        </p:txBody>
      </p:sp>
      <p:sp>
        <p:nvSpPr>
          <p:cNvPr id="203" name="Google Shape;203;p29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Features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 txBox="1"/>
          <p:nvPr>
            <p:ph type="title"/>
          </p:nvPr>
        </p:nvSpPr>
        <p:spPr>
          <a:xfrm>
            <a:off x="228600" y="1159200"/>
            <a:ext cx="3636000" cy="282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Design Decisions</a:t>
            </a:r>
            <a:endParaRPr/>
          </a:p>
        </p:txBody>
      </p:sp>
      <p:sp>
        <p:nvSpPr>
          <p:cNvPr id="209" name="Google Shape;209;p30"/>
          <p:cNvSpPr txBox="1"/>
          <p:nvPr>
            <p:ph idx="1" type="subTitle"/>
          </p:nvPr>
        </p:nvSpPr>
        <p:spPr>
          <a:xfrm>
            <a:off x="5061325" y="718646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Fungible token standard, Compatibility, fungibility, simplicity</a:t>
            </a:r>
            <a:endParaRPr/>
          </a:p>
        </p:txBody>
      </p:sp>
      <p:sp>
        <p:nvSpPr>
          <p:cNvPr id="210" name="Google Shape;210;p30"/>
          <p:cNvSpPr txBox="1"/>
          <p:nvPr>
            <p:ph idx="2" type="subTitle"/>
          </p:nvPr>
        </p:nvSpPr>
        <p:spPr>
          <a:xfrm>
            <a:off x="5061325" y="268775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ERC-20 Standard (not ERC-1155) for fungible RWAs</a:t>
            </a:r>
            <a:endParaRPr/>
          </a:p>
        </p:txBody>
      </p:sp>
      <p:sp>
        <p:nvSpPr>
          <p:cNvPr id="211" name="Google Shape;211;p30"/>
          <p:cNvSpPr txBox="1"/>
          <p:nvPr>
            <p:ph idx="3" type="title"/>
          </p:nvPr>
        </p:nvSpPr>
        <p:spPr>
          <a:xfrm>
            <a:off x="4500325" y="228595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12" name="Google Shape;212;p30"/>
          <p:cNvSpPr txBox="1"/>
          <p:nvPr>
            <p:ph idx="4" type="subTitle"/>
          </p:nvPr>
        </p:nvSpPr>
        <p:spPr>
          <a:xfrm>
            <a:off x="5061325" y="1871014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Pre-transfer validation callback, Real-time compliance enforcement</a:t>
            </a:r>
            <a:endParaRPr/>
          </a:p>
        </p:txBody>
      </p:sp>
      <p:sp>
        <p:nvSpPr>
          <p:cNvPr id="213" name="Google Shape;213;p30"/>
          <p:cNvSpPr txBox="1"/>
          <p:nvPr>
            <p:ph idx="5" type="subTitle"/>
          </p:nvPr>
        </p:nvSpPr>
        <p:spPr>
          <a:xfrm>
            <a:off x="5061325" y="1452568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Hooks for compliance enforcement</a:t>
            </a:r>
            <a:endParaRPr/>
          </a:p>
        </p:txBody>
      </p:sp>
      <p:sp>
        <p:nvSpPr>
          <p:cNvPr id="214" name="Google Shape;214;p30"/>
          <p:cNvSpPr txBox="1"/>
          <p:nvPr>
            <p:ph idx="6" type="title"/>
          </p:nvPr>
        </p:nvSpPr>
        <p:spPr>
          <a:xfrm>
            <a:off x="4500325" y="1452487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5" name="Google Shape;215;p30"/>
          <p:cNvSpPr txBox="1"/>
          <p:nvPr>
            <p:ph idx="7" type="subTitle"/>
          </p:nvPr>
        </p:nvSpPr>
        <p:spPr>
          <a:xfrm>
            <a:off x="5061325" y="3023407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91919"/>
                </a:solidFill>
                <a:latin typeface="Open Sans"/>
                <a:ea typeface="Open Sans"/>
                <a:cs typeface="Open Sans"/>
                <a:sym typeface="Open Sans"/>
              </a:rPr>
              <a:t>Logic/storage separation for upgrades, Future-proof, fixable, seamless updates</a:t>
            </a:r>
            <a:endParaRPr/>
          </a:p>
        </p:txBody>
      </p:sp>
      <p:sp>
        <p:nvSpPr>
          <p:cNvPr id="216" name="Google Shape;216;p30"/>
          <p:cNvSpPr txBox="1"/>
          <p:nvPr>
            <p:ph idx="8" type="subTitle"/>
          </p:nvPr>
        </p:nvSpPr>
        <p:spPr>
          <a:xfrm>
            <a:off x="5061325" y="2538910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Proxy Pattern for upgradeability</a:t>
            </a:r>
            <a:endParaRPr/>
          </a:p>
        </p:txBody>
      </p:sp>
      <p:sp>
        <p:nvSpPr>
          <p:cNvPr id="217" name="Google Shape;217;p30"/>
          <p:cNvSpPr txBox="1"/>
          <p:nvPr>
            <p:ph idx="9" type="title"/>
          </p:nvPr>
        </p:nvSpPr>
        <p:spPr>
          <a:xfrm>
            <a:off x="4500325" y="2576115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8" name="Google Shape;218;p30"/>
          <p:cNvSpPr txBox="1"/>
          <p:nvPr>
            <p:ph idx="13" type="subTitle"/>
          </p:nvPr>
        </p:nvSpPr>
        <p:spPr>
          <a:xfrm>
            <a:off x="5061325" y="4318799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7-day delay before upgrade execution and 3 of 5 signatures required for admin actions</a:t>
            </a:r>
            <a:endParaRPr/>
          </a:p>
        </p:txBody>
      </p:sp>
      <p:sp>
        <p:nvSpPr>
          <p:cNvPr id="219" name="Google Shape;219;p30"/>
          <p:cNvSpPr txBox="1"/>
          <p:nvPr>
            <p:ph idx="14" type="subTitle"/>
          </p:nvPr>
        </p:nvSpPr>
        <p:spPr>
          <a:xfrm>
            <a:off x="5061325" y="3900353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Time-locked Upgrades &amp; Multi-signature Admin</a:t>
            </a:r>
            <a:endParaRPr/>
          </a:p>
        </p:txBody>
      </p:sp>
      <p:sp>
        <p:nvSpPr>
          <p:cNvPr id="220" name="Google Shape;220;p30"/>
          <p:cNvSpPr txBox="1"/>
          <p:nvPr>
            <p:ph idx="15" type="title"/>
          </p:nvPr>
        </p:nvSpPr>
        <p:spPr>
          <a:xfrm>
            <a:off x="4500325" y="3834295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1"/>
          <p:cNvSpPr txBox="1"/>
          <p:nvPr>
            <p:ph type="title"/>
          </p:nvPr>
        </p:nvSpPr>
        <p:spPr>
          <a:xfrm>
            <a:off x="198675" y="2791850"/>
            <a:ext cx="3539100" cy="23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Framework</a:t>
            </a:r>
            <a:endParaRPr/>
          </a:p>
        </p:txBody>
      </p:sp>
      <p:sp>
        <p:nvSpPr>
          <p:cNvPr id="226" name="Google Shape;226;p31"/>
          <p:cNvSpPr txBox="1"/>
          <p:nvPr>
            <p:ph idx="2" type="subTitle"/>
          </p:nvPr>
        </p:nvSpPr>
        <p:spPr>
          <a:xfrm>
            <a:off x="3943548" y="600675"/>
            <a:ext cx="5120100" cy="625500"/>
          </a:xfrm>
          <a:prstGeom prst="rect">
            <a:avLst/>
          </a:prstGeom>
        </p:spPr>
        <p:txBody>
          <a:bodyPr anchorCtr="0" anchor="b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91"/>
              <a:t>Smart Contracts:</a:t>
            </a:r>
            <a:endParaRPr sz="1591"/>
          </a:p>
        </p:txBody>
      </p:sp>
      <p:sp>
        <p:nvSpPr>
          <p:cNvPr id="227" name="Google Shape;227;p31"/>
          <p:cNvSpPr txBox="1"/>
          <p:nvPr>
            <p:ph idx="1" type="subTitle"/>
          </p:nvPr>
        </p:nvSpPr>
        <p:spPr>
          <a:xfrm>
            <a:off x="3943594" y="1150352"/>
            <a:ext cx="5120100" cy="1238700"/>
          </a:xfrm>
          <a:prstGeom prst="rect">
            <a:avLst/>
          </a:prstGeom>
        </p:spPr>
        <p:txBody>
          <a:bodyPr anchorCtr="0" anchor="t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system is secured through multiple independent audits, formal verification of critical components, a generous bug bounty program offering over $1M in rewards, and time-locked upgrades with a mandatory 7-day delay to ensure transparency and community oversight.</a:t>
            </a:r>
            <a:endParaRPr/>
          </a:p>
        </p:txBody>
      </p:sp>
      <p:sp>
        <p:nvSpPr>
          <p:cNvPr id="228" name="Google Shape;228;p31"/>
          <p:cNvSpPr txBox="1"/>
          <p:nvPr>
            <p:ph idx="3" type="subTitle"/>
          </p:nvPr>
        </p:nvSpPr>
        <p:spPr>
          <a:xfrm>
            <a:off x="3943632" y="3335288"/>
            <a:ext cx="5120100" cy="1238700"/>
          </a:xfrm>
          <a:prstGeom prst="rect">
            <a:avLst/>
          </a:prstGeom>
        </p:spPr>
        <p:txBody>
          <a:bodyPr anchorCtr="0" anchor="t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control is protected by a 3-of-5 multi-signature scheme, issuer funds are safeguarded using MPC-based custody, and assets are secured in hardware wallet storage to minimize single points of failure.</a:t>
            </a:r>
            <a:endParaRPr/>
          </a:p>
        </p:txBody>
      </p:sp>
      <p:sp>
        <p:nvSpPr>
          <p:cNvPr id="229" name="Google Shape;229;p31"/>
          <p:cNvSpPr txBox="1"/>
          <p:nvPr>
            <p:ph idx="4" type="subTitle"/>
          </p:nvPr>
        </p:nvSpPr>
        <p:spPr>
          <a:xfrm>
            <a:off x="3943563" y="2785611"/>
            <a:ext cx="5120100" cy="625500"/>
          </a:xfrm>
          <a:prstGeom prst="rect">
            <a:avLst/>
          </a:prstGeom>
        </p:spPr>
        <p:txBody>
          <a:bodyPr anchorCtr="0" anchor="b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91"/>
              <a:t>Key Management:</a:t>
            </a:r>
            <a:endParaRPr sz="159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Privacy</a:t>
            </a:r>
            <a:endParaRPr/>
          </a:p>
        </p:txBody>
      </p:sp>
      <p:sp>
        <p:nvSpPr>
          <p:cNvPr id="235" name="Google Shape;235;p32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non-sensitive information is recorded on-chain, including token balances, a boolean allowlist status, and encoded attributes. This ensures transparency and verifiability while minimizing exposure of user information.</a:t>
            </a:r>
            <a:endParaRPr/>
          </a:p>
        </p:txBody>
      </p:sp>
      <p:sp>
        <p:nvSpPr>
          <p:cNvPr id="236" name="Google Shape;236;p32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personally identifiable and sensitive data—such as names, email addresses, government IDs, and financial details—is strictly kept off-chain. This data is handled exclusively by trusted KYC providers and never written to the blockchain.</a:t>
            </a:r>
            <a:endParaRPr/>
          </a:p>
        </p:txBody>
      </p:sp>
      <p:sp>
        <p:nvSpPr>
          <p:cNvPr id="237" name="Google Shape;237;p32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compliance process follows a privacy-first flow: user data is verified by a KYC provider, the result is encrypted, the allowlist is updated accordingly, and only the final compliance status is reflected on-chain.</a:t>
            </a:r>
            <a:endParaRPr/>
          </a:p>
        </p:txBody>
      </p:sp>
      <p:sp>
        <p:nvSpPr>
          <p:cNvPr id="238" name="Google Shape;238;p32"/>
          <p:cNvSpPr txBox="1"/>
          <p:nvPr>
            <p:ph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39" name="Google Shape;239;p32"/>
          <p:cNvSpPr txBox="1"/>
          <p:nvPr>
            <p:ph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40" name="Google Shape;240;p32"/>
          <p:cNvSpPr txBox="1"/>
          <p:nvPr>
            <p:ph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41" name="Google Shape;241;p32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On-Chain</a:t>
            </a:r>
            <a:endParaRPr/>
          </a:p>
        </p:txBody>
      </p:sp>
      <p:sp>
        <p:nvSpPr>
          <p:cNvPr id="242" name="Google Shape;242;p32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</a:t>
            </a:r>
            <a:endParaRPr/>
          </a:p>
        </p:txBody>
      </p:sp>
      <p:sp>
        <p:nvSpPr>
          <p:cNvPr id="243" name="Google Shape;243;p32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Verification Flow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3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 &amp; Challenges</a:t>
            </a:r>
            <a:endParaRPr/>
          </a:p>
        </p:txBody>
      </p:sp>
      <p:sp>
        <p:nvSpPr>
          <p:cNvPr id="249" name="Google Shape;249;p33"/>
          <p:cNvSpPr/>
          <p:nvPr/>
        </p:nvSpPr>
        <p:spPr>
          <a:xfrm>
            <a:off x="225700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0" name="Google Shape;250;p33"/>
          <p:cNvSpPr/>
          <p:nvPr/>
        </p:nvSpPr>
        <p:spPr>
          <a:xfrm>
            <a:off x="433501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1" name="Google Shape;251;p33"/>
          <p:cNvSpPr/>
          <p:nvPr/>
        </p:nvSpPr>
        <p:spPr>
          <a:xfrm>
            <a:off x="641303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2" name="Google Shape;252;p33"/>
          <p:cNvSpPr/>
          <p:nvPr/>
        </p:nvSpPr>
        <p:spPr>
          <a:xfrm>
            <a:off x="849104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3" name="Google Shape;253;p33"/>
          <p:cNvSpPr/>
          <p:nvPr/>
        </p:nvSpPr>
        <p:spPr>
          <a:xfrm>
            <a:off x="1056906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4" name="Google Shape;254;p33"/>
          <p:cNvSpPr/>
          <p:nvPr/>
        </p:nvSpPr>
        <p:spPr>
          <a:xfrm>
            <a:off x="1264707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5" name="Google Shape;255;p33"/>
          <p:cNvSpPr/>
          <p:nvPr/>
        </p:nvSpPr>
        <p:spPr>
          <a:xfrm>
            <a:off x="1472508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6" name="Google Shape;256;p33"/>
          <p:cNvSpPr/>
          <p:nvPr/>
        </p:nvSpPr>
        <p:spPr>
          <a:xfrm>
            <a:off x="1680310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7" name="Google Shape;257;p33"/>
          <p:cNvSpPr/>
          <p:nvPr/>
        </p:nvSpPr>
        <p:spPr>
          <a:xfrm>
            <a:off x="1888111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8" name="Google Shape;258;p33"/>
          <p:cNvSpPr/>
          <p:nvPr/>
        </p:nvSpPr>
        <p:spPr>
          <a:xfrm>
            <a:off x="2095913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59" name="Google Shape;259;p33"/>
          <p:cNvSpPr txBox="1"/>
          <p:nvPr/>
        </p:nvSpPr>
        <p:spPr>
          <a:xfrm>
            <a:off x="228600" y="186235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50%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60" name="Google Shape;260;p33"/>
          <p:cNvSpPr txBox="1"/>
          <p:nvPr/>
        </p:nvSpPr>
        <p:spPr>
          <a:xfrm>
            <a:off x="2369000" y="125873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Security Risks :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 Critical threats like smart contract exploits and key compromises require top priority. We address these through multiple audits, bug bounties, and formal verification to protect funds and platform integrity.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1" name="Google Shape;261;p33"/>
          <p:cNvSpPr/>
          <p:nvPr/>
        </p:nvSpPr>
        <p:spPr>
          <a:xfrm>
            <a:off x="22715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2" name="Google Shape;262;p33"/>
          <p:cNvSpPr/>
          <p:nvPr/>
        </p:nvSpPr>
        <p:spPr>
          <a:xfrm>
            <a:off x="434951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3" name="Google Shape;263;p33"/>
          <p:cNvSpPr/>
          <p:nvPr/>
        </p:nvSpPr>
        <p:spPr>
          <a:xfrm>
            <a:off x="642753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4" name="Google Shape;264;p33"/>
          <p:cNvSpPr/>
          <p:nvPr/>
        </p:nvSpPr>
        <p:spPr>
          <a:xfrm>
            <a:off x="850554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5" name="Google Shape;265;p33"/>
          <p:cNvSpPr/>
          <p:nvPr/>
        </p:nvSpPr>
        <p:spPr>
          <a:xfrm>
            <a:off x="1058356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6" name="Google Shape;266;p33"/>
          <p:cNvSpPr/>
          <p:nvPr/>
        </p:nvSpPr>
        <p:spPr>
          <a:xfrm>
            <a:off x="1266157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7" name="Google Shape;267;p33"/>
          <p:cNvSpPr/>
          <p:nvPr/>
        </p:nvSpPr>
        <p:spPr>
          <a:xfrm>
            <a:off x="1473958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8" name="Google Shape;268;p33"/>
          <p:cNvSpPr/>
          <p:nvPr/>
        </p:nvSpPr>
        <p:spPr>
          <a:xfrm>
            <a:off x="168176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9" name="Google Shape;269;p33"/>
          <p:cNvSpPr/>
          <p:nvPr/>
        </p:nvSpPr>
        <p:spPr>
          <a:xfrm>
            <a:off x="188956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0" name="Google Shape;270;p33"/>
          <p:cNvSpPr/>
          <p:nvPr/>
        </p:nvSpPr>
        <p:spPr>
          <a:xfrm>
            <a:off x="209736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1" name="Google Shape;271;p33"/>
          <p:cNvSpPr txBox="1"/>
          <p:nvPr/>
        </p:nvSpPr>
        <p:spPr>
          <a:xfrm>
            <a:off x="230050" y="390937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80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72" name="Google Shape;272;p33"/>
          <p:cNvSpPr txBox="1"/>
          <p:nvPr/>
        </p:nvSpPr>
        <p:spPr>
          <a:xfrm>
            <a:off x="2370450" y="330575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Market &amp; Adoption :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 Our biggest challenge is attracting issuers and investors to build liquidity. Success depends on strategic partnerships,and bridging traditional and digital finance.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3" name="Google Shape;273;p33"/>
          <p:cNvSpPr/>
          <p:nvPr/>
        </p:nvSpPr>
        <p:spPr>
          <a:xfrm>
            <a:off x="4725500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4" name="Google Shape;274;p33"/>
          <p:cNvSpPr/>
          <p:nvPr/>
        </p:nvSpPr>
        <p:spPr>
          <a:xfrm>
            <a:off x="4933301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5" name="Google Shape;275;p33"/>
          <p:cNvSpPr/>
          <p:nvPr/>
        </p:nvSpPr>
        <p:spPr>
          <a:xfrm>
            <a:off x="5141103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6" name="Google Shape;276;p33"/>
          <p:cNvSpPr/>
          <p:nvPr/>
        </p:nvSpPr>
        <p:spPr>
          <a:xfrm>
            <a:off x="5348904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7" name="Google Shape;277;p33"/>
          <p:cNvSpPr/>
          <p:nvPr/>
        </p:nvSpPr>
        <p:spPr>
          <a:xfrm>
            <a:off x="5556706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8" name="Google Shape;278;p33"/>
          <p:cNvSpPr/>
          <p:nvPr/>
        </p:nvSpPr>
        <p:spPr>
          <a:xfrm>
            <a:off x="5764507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9" name="Google Shape;279;p33"/>
          <p:cNvSpPr/>
          <p:nvPr/>
        </p:nvSpPr>
        <p:spPr>
          <a:xfrm>
            <a:off x="5972308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0" name="Google Shape;280;p33"/>
          <p:cNvSpPr/>
          <p:nvPr/>
        </p:nvSpPr>
        <p:spPr>
          <a:xfrm>
            <a:off x="6180110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1" name="Google Shape;281;p33"/>
          <p:cNvSpPr/>
          <p:nvPr/>
        </p:nvSpPr>
        <p:spPr>
          <a:xfrm>
            <a:off x="6387911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2" name="Google Shape;282;p33"/>
          <p:cNvSpPr/>
          <p:nvPr/>
        </p:nvSpPr>
        <p:spPr>
          <a:xfrm>
            <a:off x="6595713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3" name="Google Shape;283;p33"/>
          <p:cNvSpPr txBox="1"/>
          <p:nvPr/>
        </p:nvSpPr>
        <p:spPr>
          <a:xfrm>
            <a:off x="4728400" y="186232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30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84" name="Google Shape;284;p33"/>
          <p:cNvSpPr txBox="1"/>
          <p:nvPr/>
        </p:nvSpPr>
        <p:spPr>
          <a:xfrm>
            <a:off x="6868800" y="125870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Regulatory &amp; Compliance : 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Evolving global securities and AML laws demand constant attention. We build flexible compliance systems and work with legal experts to ensure lawful operations across jurisdictions.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5" name="Google Shape;285;p33"/>
          <p:cNvSpPr/>
          <p:nvPr/>
        </p:nvSpPr>
        <p:spPr>
          <a:xfrm>
            <a:off x="472695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6" name="Google Shape;286;p33"/>
          <p:cNvSpPr/>
          <p:nvPr/>
        </p:nvSpPr>
        <p:spPr>
          <a:xfrm>
            <a:off x="493475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7" name="Google Shape;287;p33"/>
          <p:cNvSpPr/>
          <p:nvPr/>
        </p:nvSpPr>
        <p:spPr>
          <a:xfrm>
            <a:off x="514255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8" name="Google Shape;288;p33"/>
          <p:cNvSpPr/>
          <p:nvPr/>
        </p:nvSpPr>
        <p:spPr>
          <a:xfrm>
            <a:off x="5350354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9" name="Google Shape;289;p33"/>
          <p:cNvSpPr/>
          <p:nvPr/>
        </p:nvSpPr>
        <p:spPr>
          <a:xfrm>
            <a:off x="5558156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0" name="Google Shape;290;p33"/>
          <p:cNvSpPr/>
          <p:nvPr/>
        </p:nvSpPr>
        <p:spPr>
          <a:xfrm>
            <a:off x="5765957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1" name="Google Shape;291;p33"/>
          <p:cNvSpPr/>
          <p:nvPr/>
        </p:nvSpPr>
        <p:spPr>
          <a:xfrm>
            <a:off x="5973758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2" name="Google Shape;292;p33"/>
          <p:cNvSpPr/>
          <p:nvPr/>
        </p:nvSpPr>
        <p:spPr>
          <a:xfrm>
            <a:off x="6181560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3" name="Google Shape;293;p33"/>
          <p:cNvSpPr/>
          <p:nvPr/>
        </p:nvSpPr>
        <p:spPr>
          <a:xfrm>
            <a:off x="638936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4" name="Google Shape;294;p33"/>
          <p:cNvSpPr/>
          <p:nvPr/>
        </p:nvSpPr>
        <p:spPr>
          <a:xfrm>
            <a:off x="659716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5" name="Google Shape;295;p33"/>
          <p:cNvSpPr txBox="1"/>
          <p:nvPr/>
        </p:nvSpPr>
        <p:spPr>
          <a:xfrm>
            <a:off x="4729850" y="390937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10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96" name="Google Shape;296;p33"/>
          <p:cNvSpPr txBox="1"/>
          <p:nvPr/>
        </p:nvSpPr>
        <p:spPr>
          <a:xfrm>
            <a:off x="6870250" y="330575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Technical Scalability : 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Long-term growth requires planning for transaction volume and cost. We prioritize Layer 2 readiness and gas optimization, which are manageable with existing solutions.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4"/>
          <p:cNvSpPr txBox="1"/>
          <p:nvPr>
            <p:ph type="title"/>
          </p:nvPr>
        </p:nvSpPr>
        <p:spPr>
          <a:xfrm>
            <a:off x="1768500" y="1505525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/>
              <a:t>Thank</a:t>
            </a:r>
            <a:endParaRPr sz="10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5000"/>
              <a:t>you</a:t>
            </a:r>
            <a:r>
              <a:rPr lang="en" sz="5000"/>
              <a:t> </a:t>
            </a:r>
            <a:endParaRPr sz="5000"/>
          </a:p>
        </p:txBody>
      </p:sp>
      <p:sp>
        <p:nvSpPr>
          <p:cNvPr id="302" name="Google Shape;302;p34"/>
          <p:cNvSpPr txBox="1"/>
          <p:nvPr>
            <p:ph idx="4294967295" type="subTitle"/>
          </p:nvPr>
        </p:nvSpPr>
        <p:spPr>
          <a:xfrm>
            <a:off x="566276" y="258350"/>
            <a:ext cx="2767500" cy="1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latin typeface="Bricolage Grotesque"/>
                <a:ea typeface="Bricolage Grotesque"/>
                <a:cs typeface="Bricolage Grotesque"/>
                <a:sym typeface="Bricolage Grotesque"/>
              </a:rPr>
              <a:t>Do you have any questions?</a:t>
            </a:r>
            <a:endParaRPr b="1" sz="13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krishnaprasanth.j@gmail.com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+91 9095178012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github.com/krish-jay</a:t>
            </a:r>
            <a:endParaRPr/>
          </a:p>
        </p:txBody>
      </p:sp>
      <p:sp>
        <p:nvSpPr>
          <p:cNvPr id="303" name="Google Shape;303;p34"/>
          <p:cNvSpPr/>
          <p:nvPr/>
        </p:nvSpPr>
        <p:spPr>
          <a:xfrm>
            <a:off x="7059663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34"/>
          <p:cNvSpPr/>
          <p:nvPr/>
        </p:nvSpPr>
        <p:spPr>
          <a:xfrm>
            <a:off x="8071288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34"/>
          <p:cNvSpPr/>
          <p:nvPr/>
        </p:nvSpPr>
        <p:spPr>
          <a:xfrm>
            <a:off x="7565475" y="4617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6" name="Google Shape;306;p34"/>
          <p:cNvGrpSpPr/>
          <p:nvPr/>
        </p:nvGrpSpPr>
        <p:grpSpPr>
          <a:xfrm>
            <a:off x="7128105" y="4681287"/>
            <a:ext cx="216482" cy="216461"/>
            <a:chOff x="3368074" y="3882537"/>
            <a:chExt cx="215298" cy="215298"/>
          </a:xfrm>
        </p:grpSpPr>
        <p:sp>
          <p:nvSpPr>
            <p:cNvPr id="307" name="Google Shape;307;p34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34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34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0" name="Google Shape;310;p34"/>
          <p:cNvGrpSpPr/>
          <p:nvPr/>
        </p:nvGrpSpPr>
        <p:grpSpPr>
          <a:xfrm>
            <a:off x="8138297" y="4695960"/>
            <a:ext cx="209249" cy="187115"/>
            <a:chOff x="3824739" y="3890112"/>
            <a:chExt cx="208105" cy="186110"/>
          </a:xfrm>
        </p:grpSpPr>
        <p:sp>
          <p:nvSpPr>
            <p:cNvPr id="311" name="Google Shape;311;p34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34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34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4" name="Google Shape;314;p34"/>
          <p:cNvSpPr/>
          <p:nvPr/>
        </p:nvSpPr>
        <p:spPr>
          <a:xfrm>
            <a:off x="7658914" y="4708699"/>
            <a:ext cx="155839" cy="159260"/>
          </a:xfrm>
          <a:custGeom>
            <a:rect b="b" l="l" r="r" t="t"/>
            <a:pathLst>
              <a:path extrusionOk="0" h="505587" w="494728">
                <a:moveTo>
                  <a:pt x="294418" y="214122"/>
                </a:moveTo>
                <a:lnTo>
                  <a:pt x="478631" y="0"/>
                </a:lnTo>
                <a:lnTo>
                  <a:pt x="435007" y="0"/>
                </a:lnTo>
                <a:lnTo>
                  <a:pt x="275082" y="185928"/>
                </a:lnTo>
                <a:lnTo>
                  <a:pt x="147352" y="0"/>
                </a:lnTo>
                <a:lnTo>
                  <a:pt x="0" y="0"/>
                </a:lnTo>
                <a:lnTo>
                  <a:pt x="193167" y="281083"/>
                </a:lnTo>
                <a:lnTo>
                  <a:pt x="0" y="505587"/>
                </a:lnTo>
                <a:lnTo>
                  <a:pt x="43625" y="505587"/>
                </a:lnTo>
                <a:lnTo>
                  <a:pt x="212503" y="309277"/>
                </a:lnTo>
                <a:lnTo>
                  <a:pt x="347377" y="505587"/>
                </a:lnTo>
                <a:lnTo>
                  <a:pt x="494729" y="505587"/>
                </a:lnTo>
                <a:lnTo>
                  <a:pt x="294418" y="214027"/>
                </a:lnTo>
                <a:lnTo>
                  <a:pt x="294418" y="214027"/>
                </a:lnTo>
                <a:close/>
                <a:moveTo>
                  <a:pt x="234601" y="283655"/>
                </a:moveTo>
                <a:lnTo>
                  <a:pt x="215075" y="255651"/>
                </a:lnTo>
                <a:lnTo>
                  <a:pt x="59341" y="32861"/>
                </a:lnTo>
                <a:lnTo>
                  <a:pt x="126397" y="32861"/>
                </a:lnTo>
                <a:lnTo>
                  <a:pt x="252032" y="212598"/>
                </a:lnTo>
                <a:lnTo>
                  <a:pt x="271558" y="240601"/>
                </a:lnTo>
                <a:lnTo>
                  <a:pt x="434912" y="474250"/>
                </a:lnTo>
                <a:lnTo>
                  <a:pt x="367855" y="474250"/>
                </a:lnTo>
                <a:lnTo>
                  <a:pt x="234505" y="283559"/>
                </a:lnTo>
                <a:lnTo>
                  <a:pt x="234505" y="28355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35825" lIns="71700" spcFirstLastPara="1" rIns="71700" wrap="square" tIns="35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1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oject roadmaps by Slidesgo">
  <a:themeElements>
    <a:clrScheme name="Simple Light">
      <a:dk1>
        <a:srgbClr val="161616"/>
      </a:dk1>
      <a:lt1>
        <a:srgbClr val="F0F0F0"/>
      </a:lt1>
      <a:dk2>
        <a:srgbClr val="161616"/>
      </a:dk2>
      <a:lt2>
        <a:srgbClr val="C2C2C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6161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